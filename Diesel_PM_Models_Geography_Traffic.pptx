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jvIJdobI9916v0NN0jNR3Bbui0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36773A3-AAB7-4EDC-96AD-0B37A0A406F1}">
  <a:tblStyle styleId="{236773A3-AAB7-4EDC-96AD-0B37A0A406F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 name="Google Shape;2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Introduce yourself and the question. My part of the project focuses on the models and on geography: whether the demographic gap in diesel exposure looks the same in every EPA region.</a:t>
            </a:r>
            <a:endParaRPr/>
          </a:p>
        </p:txBody>
      </p:sp>
      <p:sp>
        <p:nvSpPr>
          <p:cNvPr id="21" name="Google Shape;2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h7b81e594c78a31d6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 name="Google Shape;27;h7b81e594c78a31d6_0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 name="Google Shape;28;h7b81e594c78a31d6_0_1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part of the project asks </a:t>
            </a:r>
            <a:r>
              <a:rPr lang="en-US"/>
              <a:t>how much of the diesel PM gap remains once we account for population density, income, and geographic location. I used the same EJScreen 2024 data: 84,222 census tracts, each about 4,000 people. Everything describes neighbourhoods, not individual people. I kept tracts with at least 100 residents and a diesel estimate, covering 49 states, D.C., and Puerto Rico. The outcome is on a log scale, so every result reads as a percent change in diesel PM, per 10 percentage points more residents of color</a:t>
            </a:r>
            <a:endParaRPr/>
          </a:p>
        </p:txBody>
      </p:sp>
      <p:sp>
        <p:nvSpPr>
          <p:cNvPr id="36" name="Google Shape;3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are the models I tested. Model 1 uses only the share of residents of color. Models 2, 3, and 4 add density, then income, then EPA region, one at a time. Model 4 is my main model. m4c and m4_rl are checks on Model 4. Model 5, the last row, lets the race gap be different in each region, and it’s my final geographic model.</a:t>
            </a:r>
            <a:endParaRPr/>
          </a:p>
        </p:txBody>
      </p:sp>
      <p:sp>
        <p:nvSpPr>
          <p:cNvPr id="54" name="Google Shape;5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Starting simple: tracts with more residents of color have more diesel PM. Each 10 points more residents of color goes with about 10.6% more diesel PM. Race alone explains about 16% of the variation, so it’s a real pattern, but most of the variation comes from other things.</a:t>
            </a:r>
            <a:endParaRPr/>
          </a:p>
        </p:txBody>
      </p:sp>
      <p:sp>
        <p:nvSpPr>
          <p:cNvPr id="62" name="Google Shape;6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Then I added predictors one at a time. Adding density drops the race effect from 10.6% to under 1%, so most of the raw gap is about where people live: denser areas have more diesel and more residents of color. Adding income actually brings it back up to 2.5%. That’s called suppression: lower-income tracts have slightly less diesel at the same density, so leaving income out was hiding part of the gap. With region added, the final estimate is 2.9%, and the interval stays above zero.</a:t>
            </a:r>
            <a:endParaRPr/>
          </a:p>
        </p:txBody>
      </p:sp>
      <p:sp>
        <p:nvSpPr>
          <p:cNvPr id="80" name="Google Shape;8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the full main model. Holding everything else constant, 10 more points of residents of color means 2.9% more diesel PM. A tract ten times denser has 84% more, by far the strongest predictor. More low-income residents means slightly less diesel, which is the suppression effect again.</a:t>
            </a:r>
            <a:endParaRPr/>
          </a:p>
        </p:txBody>
      </p:sp>
      <p:sp>
        <p:nvSpPr>
          <p:cNvPr id="91" name="Google Shape;9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quick checks. First, the predictors aren’t so closely related that the model can’t separate them: every VIF is below 5. Second, the original intercept describes a tract that doesn’t exist, with zero people and zero income. Centering the predictors makes it describe a typical tract, about 0.113. The slopes and predictions don’t change at all.</a:t>
            </a:r>
            <a:endParaRPr/>
          </a:p>
        </p:txBody>
      </p:sp>
      <p:sp>
        <p:nvSpPr>
          <p:cNvPr id="108" name="Google Shape;10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h3d19a9cfc7ef64c4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h3d19a9cfc7ef64c4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geography. Region is a category, so each region is compared with New England. Holding demographics, density, and income constant, every region has more diesel PM than New England, up to 50% more in the Pacific Northwest. Mountains &amp; Plains is the only one we can’t tell apart from New England. Notice that adding region barely moved the race effect, from 2.5 to 2.9%. Region changes the overall level of diesel, but it doesn’t explain away the demographic gap.</a:t>
            </a:r>
            <a:endParaRPr/>
          </a:p>
        </p:txBody>
      </p:sp>
      <p:sp>
        <p:nvSpPr>
          <p:cNvPr id="128" name="Google Shape;128;h3d19a9cfc7ef64c4_0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it is visually. Each dot is one region’s race gap, and the dashed line is the national 2.9%. In 7 of 10 regions the gap is clearly above zero, so this isn’t driven by one place. In Mountains &amp; Plains and the Pacific Northwest it’s about 9%, three times the national number. In NY/NJ/PR and South Central it’s essentially zero. So one national number is a compromise that hides where the disparities are steepest.</a:t>
            </a:r>
            <a:endParaRPr/>
          </a:p>
        </p:txBody>
      </p:sp>
      <p:sp>
        <p:nvSpPr>
          <p:cNvPr id="146" name="Google Shape;14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final model plotted against the real tracts, one panel per region. The red line is the model’s prediction. The steeper the line, the bigger the race gap. You can see it’s steep in the Pacific Northwest and Mountains &amp; Plains and flat in South Central. The wide spread of the hexagons shows there’s still a lot the model doesn’t explain.</a:t>
            </a:r>
            <a:endParaRPr/>
          </a:p>
        </p:txBody>
      </p:sp>
      <p:sp>
        <p:nvSpPr>
          <p:cNvPr id="164" name="Google Shape;16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Finally, I checked the regression assumptions (m4). The model is reasonable: the trend line is mostly flat, and no single tract drives the results. The tails are a bit heavy, but with 84,000 tracts that has little effect. The one assumption that fails is independence, because neighbouring tracts share roads and air-model inputs. So I clustered the confidence intervals by county. That made them about six times wider, from 2.7–3.0% to 1.9–3.8%, but the result still stayed above zero.”</a:t>
            </a:r>
            <a:endParaRPr/>
          </a:p>
        </p:txBody>
      </p:sp>
      <p:sp>
        <p:nvSpPr>
          <p:cNvPr id="173" name="Google Shape;17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h7b81e594c78a31d6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1" name="Google Shape;181;h7b81e594c78a31d6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h7b81e594c78a31d6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h35dd68f70b94a580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8" name="Google Shape;188;h35dd68f70b94a580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h35dd68f70b94a580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h1852e817adb9f70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6" name="Google Shape;196;h1852e817adb9f70_0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h1852e817adb9f70_0_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hb7794d77adfa7f5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4" name="Google Shape;204;hb7794d77adfa7f5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hb7794d77adfa7f5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h35dd68f70b94a580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1" name="Google Shape;211;h35dd68f70b94a580_0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h35dd68f70b94a580_0_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h35dd68f70b94a580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9" name="Google Shape;219;h35dd68f70b94a580_0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h35dd68f70b94a580_0_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sum up: without adjustment, each 10 points more residents of color goes with 10.6% more diesel PM. Density explains most of that, but 2.9% remains after density, income, and region. That gap isn’t the same everywhere. It’s about 9% in Mountains &amp; Plains and the Pacific Northwest and close to zero in NY/NJ/PR and South Central. Region is the second-strongest predictor, and one national number hides where the disparities are steepest. And remember, these are neighbourhoods, not individuals, and diesel PM is a model estimate, not a measurement. Thank you.</a:t>
            </a:r>
            <a:endParaRPr/>
          </a:p>
        </p:txBody>
      </p:sp>
      <p:sp>
        <p:nvSpPr>
          <p:cNvPr id="230" name="Google Shape;23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DARK">
  <p:cSld name="TITLE_DARK">
    <p:bg>
      <p:bgPr>
        <a:solidFill>
          <a:schemeClr val="dk1"/>
        </a:solidFill>
      </p:bgPr>
    </p:bg>
    <p:spTree>
      <p:nvGrpSpPr>
        <p:cNvPr id="11" name="Shape 11"/>
        <p:cNvGrpSpPr/>
        <p:nvPr/>
      </p:nvGrpSpPr>
      <p:grpSpPr>
        <a:xfrm>
          <a:off x="0" y="0"/>
          <a:ext cx="0" cy="0"/>
          <a:chOff x="0" y="0"/>
          <a:chExt cx="0" cy="0"/>
        </a:xfrm>
      </p:grpSpPr>
      <p:sp>
        <p:nvSpPr>
          <p:cNvPr id="12" name="Google Shape;12;p21"/>
          <p:cNvSpPr txBox="1"/>
          <p:nvPr>
            <p:ph type="title"/>
          </p:nvPr>
        </p:nvSpPr>
        <p:spPr>
          <a:xfrm>
            <a:off x="548640" y="1280160"/>
            <a:ext cx="8046720" cy="146304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3800"/>
              <a:buFont typeface="Cambria"/>
              <a:buNone/>
              <a:defRPr b="1" i="0" sz="3800" u="none" cap="none" strike="noStrik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21"/>
          <p:cNvSpPr txBox="1"/>
          <p:nvPr>
            <p:ph idx="1" type="body"/>
          </p:nvPr>
        </p:nvSpPr>
        <p:spPr>
          <a:xfrm>
            <a:off x="548640" y="2926080"/>
            <a:ext cx="8046720" cy="128016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20"/>
              </a:spcBef>
              <a:spcAft>
                <a:spcPts val="0"/>
              </a:spcAft>
              <a:buClr>
                <a:schemeClr val="accent6"/>
              </a:buClr>
              <a:buSzPts val="1600"/>
              <a:buFont typeface="Arial"/>
              <a:buNone/>
              <a:defRPr b="0" i="0" sz="1600" u="none" cap="none" strike="noStrike">
                <a:solidFill>
                  <a:schemeClr val="accent6"/>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chemeClr val="lt1"/>
        </a:solidFill>
      </p:bgPr>
    </p:bg>
    <p:spTree>
      <p:nvGrpSpPr>
        <p:cNvPr id="14" name="Shape 14"/>
        <p:cNvGrpSpPr/>
        <p:nvPr/>
      </p:nvGrpSpPr>
      <p:grpSpPr>
        <a:xfrm>
          <a:off x="0" y="0"/>
          <a:ext cx="0" cy="0"/>
          <a:chOff x="0" y="0"/>
          <a:chExt cx="0" cy="0"/>
        </a:xfrm>
      </p:grpSpPr>
      <p:sp>
        <p:nvSpPr>
          <p:cNvPr id="15" name="Google Shape;15;p22"/>
          <p:cNvSpPr txBox="1"/>
          <p:nvPr>
            <p:ph type="title"/>
          </p:nvPr>
        </p:nvSpPr>
        <p:spPr>
          <a:xfrm>
            <a:off x="457200" y="228600"/>
            <a:ext cx="8229600" cy="6858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2600"/>
              <a:buFont typeface="Cambria"/>
              <a:buNone/>
              <a:defRPr b="1" i="0" sz="2600" u="none" cap="none" strike="noStrike">
                <a:solidFill>
                  <a:schemeClr val="dk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22"/>
          <p:cNvSpPr txBox="1"/>
          <p:nvPr>
            <p:ph idx="12" type="sldNum"/>
          </p:nvPr>
        </p:nvSpPr>
        <p:spPr>
          <a:xfrm>
            <a:off x="8412480" y="4800600"/>
            <a:ext cx="457200" cy="22860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900" u="none" cap="none" strike="noStrike">
                <a:solidFill>
                  <a:schemeClr val="accent4"/>
                </a:solidFill>
                <a:latin typeface="Calibri"/>
                <a:ea typeface="Calibri"/>
                <a:cs typeface="Calibri"/>
                <a:sym typeface="Calibri"/>
              </a:defRPr>
            </a:lvl1pPr>
            <a:lvl2pPr indent="0" lvl="1" marL="0" marR="0" algn="r">
              <a:spcBef>
                <a:spcPts val="0"/>
              </a:spcBef>
              <a:buNone/>
              <a:defRPr b="0" i="0" sz="900" u="none" cap="none" strike="noStrike">
                <a:solidFill>
                  <a:schemeClr val="accent4"/>
                </a:solidFill>
                <a:latin typeface="Calibri"/>
                <a:ea typeface="Calibri"/>
                <a:cs typeface="Calibri"/>
                <a:sym typeface="Calibri"/>
              </a:defRPr>
            </a:lvl2pPr>
            <a:lvl3pPr indent="0" lvl="2" marL="0" marR="0" algn="r">
              <a:spcBef>
                <a:spcPts val="0"/>
              </a:spcBef>
              <a:buNone/>
              <a:defRPr b="0" i="0" sz="900" u="none" cap="none" strike="noStrike">
                <a:solidFill>
                  <a:schemeClr val="accent4"/>
                </a:solidFill>
                <a:latin typeface="Calibri"/>
                <a:ea typeface="Calibri"/>
                <a:cs typeface="Calibri"/>
                <a:sym typeface="Calibri"/>
              </a:defRPr>
            </a:lvl3pPr>
            <a:lvl4pPr indent="0" lvl="3" marL="0" marR="0" algn="r">
              <a:spcBef>
                <a:spcPts val="0"/>
              </a:spcBef>
              <a:buNone/>
              <a:defRPr b="0" i="0" sz="900" u="none" cap="none" strike="noStrike">
                <a:solidFill>
                  <a:schemeClr val="accent4"/>
                </a:solidFill>
                <a:latin typeface="Calibri"/>
                <a:ea typeface="Calibri"/>
                <a:cs typeface="Calibri"/>
                <a:sym typeface="Calibri"/>
              </a:defRPr>
            </a:lvl4pPr>
            <a:lvl5pPr indent="0" lvl="4" marL="0" marR="0" algn="r">
              <a:spcBef>
                <a:spcPts val="0"/>
              </a:spcBef>
              <a:buNone/>
              <a:defRPr b="0" i="0" sz="900" u="none" cap="none" strike="noStrike">
                <a:solidFill>
                  <a:schemeClr val="accent4"/>
                </a:solidFill>
                <a:latin typeface="Calibri"/>
                <a:ea typeface="Calibri"/>
                <a:cs typeface="Calibri"/>
                <a:sym typeface="Calibri"/>
              </a:defRPr>
            </a:lvl5pPr>
            <a:lvl6pPr indent="0" lvl="5" marL="0" marR="0" algn="r">
              <a:spcBef>
                <a:spcPts val="0"/>
              </a:spcBef>
              <a:buNone/>
              <a:defRPr b="0" i="0" sz="900" u="none" cap="none" strike="noStrike">
                <a:solidFill>
                  <a:schemeClr val="accent4"/>
                </a:solidFill>
                <a:latin typeface="Calibri"/>
                <a:ea typeface="Calibri"/>
                <a:cs typeface="Calibri"/>
                <a:sym typeface="Calibri"/>
              </a:defRPr>
            </a:lvl6pPr>
            <a:lvl7pPr indent="0" lvl="6" marL="0" marR="0" algn="r">
              <a:spcBef>
                <a:spcPts val="0"/>
              </a:spcBef>
              <a:buNone/>
              <a:defRPr b="0" i="0" sz="900" u="none" cap="none" strike="noStrike">
                <a:solidFill>
                  <a:schemeClr val="accent4"/>
                </a:solidFill>
                <a:latin typeface="Calibri"/>
                <a:ea typeface="Calibri"/>
                <a:cs typeface="Calibri"/>
                <a:sym typeface="Calibri"/>
              </a:defRPr>
            </a:lvl7pPr>
            <a:lvl8pPr indent="0" lvl="7" marL="0" marR="0" algn="r">
              <a:spcBef>
                <a:spcPts val="0"/>
              </a:spcBef>
              <a:buNone/>
              <a:defRPr b="0" i="0" sz="900" u="none" cap="none" strike="noStrike">
                <a:solidFill>
                  <a:schemeClr val="accent4"/>
                </a:solidFill>
                <a:latin typeface="Calibri"/>
                <a:ea typeface="Calibri"/>
                <a:cs typeface="Calibri"/>
                <a:sym typeface="Calibri"/>
              </a:defRPr>
            </a:lvl8pPr>
            <a:lvl9pPr indent="0" lvl="8" marL="0" marR="0" algn="r">
              <a:spcBef>
                <a:spcPts val="0"/>
              </a:spcBef>
              <a:buNone/>
              <a:defRPr b="0" i="0" sz="900" u="none" cap="none" strike="noStrike">
                <a:solidFill>
                  <a:schemeClr val="accent4"/>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7" name="Shape 1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20"/>
          <p:cNvSpPr txBox="1"/>
          <p:nvPr>
            <p:ph idx="12" type="sldNum"/>
          </p:nvPr>
        </p:nvSpPr>
        <p:spPr>
          <a:xfrm>
            <a:off x="8412480" y="4800600"/>
            <a:ext cx="457200" cy="2286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900" u="none" cap="none" strike="noStrike">
                <a:solidFill>
                  <a:schemeClr val="accent4"/>
                </a:solidFill>
                <a:latin typeface="Calibri"/>
                <a:ea typeface="Calibri"/>
                <a:cs typeface="Calibri"/>
                <a:sym typeface="Calibri"/>
              </a:defRPr>
            </a:lvl1pPr>
            <a:lvl2pPr indent="0" lvl="1" marL="0" marR="0" rtl="0" algn="r">
              <a:spcBef>
                <a:spcPts val="0"/>
              </a:spcBef>
              <a:buNone/>
              <a:defRPr b="0" i="0" sz="900" u="none" cap="none" strike="noStrike">
                <a:solidFill>
                  <a:schemeClr val="accent4"/>
                </a:solidFill>
                <a:latin typeface="Calibri"/>
                <a:ea typeface="Calibri"/>
                <a:cs typeface="Calibri"/>
                <a:sym typeface="Calibri"/>
              </a:defRPr>
            </a:lvl2pPr>
            <a:lvl3pPr indent="0" lvl="2" marL="0" marR="0" rtl="0" algn="r">
              <a:spcBef>
                <a:spcPts val="0"/>
              </a:spcBef>
              <a:buNone/>
              <a:defRPr b="0" i="0" sz="900" u="none" cap="none" strike="noStrike">
                <a:solidFill>
                  <a:schemeClr val="accent4"/>
                </a:solidFill>
                <a:latin typeface="Calibri"/>
                <a:ea typeface="Calibri"/>
                <a:cs typeface="Calibri"/>
                <a:sym typeface="Calibri"/>
              </a:defRPr>
            </a:lvl3pPr>
            <a:lvl4pPr indent="0" lvl="3" marL="0" marR="0" rtl="0" algn="r">
              <a:spcBef>
                <a:spcPts val="0"/>
              </a:spcBef>
              <a:buNone/>
              <a:defRPr b="0" i="0" sz="900" u="none" cap="none" strike="noStrike">
                <a:solidFill>
                  <a:schemeClr val="accent4"/>
                </a:solidFill>
                <a:latin typeface="Calibri"/>
                <a:ea typeface="Calibri"/>
                <a:cs typeface="Calibri"/>
                <a:sym typeface="Calibri"/>
              </a:defRPr>
            </a:lvl4pPr>
            <a:lvl5pPr indent="0" lvl="4" marL="0" marR="0" rtl="0" algn="r">
              <a:spcBef>
                <a:spcPts val="0"/>
              </a:spcBef>
              <a:buNone/>
              <a:defRPr b="0" i="0" sz="900" u="none" cap="none" strike="noStrike">
                <a:solidFill>
                  <a:schemeClr val="accent4"/>
                </a:solidFill>
                <a:latin typeface="Calibri"/>
                <a:ea typeface="Calibri"/>
                <a:cs typeface="Calibri"/>
                <a:sym typeface="Calibri"/>
              </a:defRPr>
            </a:lvl5pPr>
            <a:lvl6pPr indent="0" lvl="5" marL="0" marR="0" rtl="0" algn="r">
              <a:spcBef>
                <a:spcPts val="0"/>
              </a:spcBef>
              <a:buNone/>
              <a:defRPr b="0" i="0" sz="900" u="none" cap="none" strike="noStrike">
                <a:solidFill>
                  <a:schemeClr val="accent4"/>
                </a:solidFill>
                <a:latin typeface="Calibri"/>
                <a:ea typeface="Calibri"/>
                <a:cs typeface="Calibri"/>
                <a:sym typeface="Calibri"/>
              </a:defRPr>
            </a:lvl6pPr>
            <a:lvl7pPr indent="0" lvl="6" marL="0" marR="0" rtl="0" algn="r">
              <a:spcBef>
                <a:spcPts val="0"/>
              </a:spcBef>
              <a:buNone/>
              <a:defRPr b="0" i="0" sz="900" u="none" cap="none" strike="noStrike">
                <a:solidFill>
                  <a:schemeClr val="accent4"/>
                </a:solidFill>
                <a:latin typeface="Calibri"/>
                <a:ea typeface="Calibri"/>
                <a:cs typeface="Calibri"/>
                <a:sym typeface="Calibri"/>
              </a:defRPr>
            </a:lvl7pPr>
            <a:lvl8pPr indent="0" lvl="7" marL="0" marR="0" rtl="0" algn="r">
              <a:spcBef>
                <a:spcPts val="0"/>
              </a:spcBef>
              <a:buNone/>
              <a:defRPr b="0" i="0" sz="900" u="none" cap="none" strike="noStrike">
                <a:solidFill>
                  <a:schemeClr val="accent4"/>
                </a:solidFill>
                <a:latin typeface="Calibri"/>
                <a:ea typeface="Calibri"/>
                <a:cs typeface="Calibri"/>
                <a:sym typeface="Calibri"/>
              </a:defRPr>
            </a:lvl8pPr>
            <a:lvl9pPr indent="0" lvl="8" marL="0" marR="0" rtl="0" algn="r">
              <a:spcBef>
                <a:spcPts val="0"/>
              </a:spcBef>
              <a:buNone/>
              <a:defRPr b="0" i="0" sz="900" u="none" cap="none" strike="noStrike">
                <a:solidFill>
                  <a:schemeClr val="accent4"/>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sp>
        <p:nvSpPr>
          <p:cNvPr id="23" name="Google Shape;23;p1"/>
          <p:cNvSpPr txBox="1"/>
          <p:nvPr>
            <p:ph type="title"/>
          </p:nvPr>
        </p:nvSpPr>
        <p:spPr>
          <a:xfrm>
            <a:off x="548640" y="1280160"/>
            <a:ext cx="8046720" cy="146304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lt1"/>
              </a:buClr>
              <a:buSzPts val="3800"/>
              <a:buFont typeface="Cambria"/>
              <a:buNone/>
            </a:pPr>
            <a:r>
              <a:rPr b="1" lang="en-US" sz="3800">
                <a:solidFill>
                  <a:schemeClr val="lt1"/>
                </a:solidFill>
              </a:rPr>
              <a:t>Diesel Exhaust, Demographics, Traffic Proximity</a:t>
            </a:r>
            <a:r>
              <a:rPr lang="en-US"/>
              <a:t> </a:t>
            </a:r>
            <a:r>
              <a:rPr b="1" lang="en-US" sz="3800">
                <a:solidFill>
                  <a:schemeClr val="lt1"/>
                </a:solidFill>
              </a:rPr>
              <a:t>and Geography</a:t>
            </a:r>
            <a:endParaRPr sz="3800"/>
          </a:p>
        </p:txBody>
      </p:sp>
      <p:sp>
        <p:nvSpPr>
          <p:cNvPr id="24" name="Google Shape;24;p1"/>
          <p:cNvSpPr txBox="1"/>
          <p:nvPr>
            <p:ph idx="1" type="body"/>
          </p:nvPr>
        </p:nvSpPr>
        <p:spPr>
          <a:xfrm>
            <a:off x="548640" y="2926080"/>
            <a:ext cx="8046720" cy="12801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accent6"/>
              </a:buClr>
              <a:buSzPts val="1600"/>
              <a:buNone/>
            </a:pPr>
            <a:r>
              <a:rPr lang="en-US" sz="1600">
                <a:solidFill>
                  <a:schemeClr val="accent6"/>
                </a:solidFill>
              </a:rPr>
              <a:t>How much of the diesel PM gap remains after accounting for density, income, </a:t>
            </a:r>
            <a:r>
              <a:rPr lang="en-US"/>
              <a:t>traffic proximity </a:t>
            </a:r>
            <a:r>
              <a:rPr lang="en-US" sz="1600">
                <a:solidFill>
                  <a:schemeClr val="accent6"/>
                </a:solidFill>
              </a:rPr>
              <a:t>and EPA region?</a:t>
            </a:r>
            <a:endParaRPr sz="1600"/>
          </a:p>
          <a:p>
            <a:pPr indent="0" lvl="0" marL="0" rtl="0" algn="l">
              <a:spcBef>
                <a:spcPts val="320"/>
              </a:spcBef>
              <a:spcAft>
                <a:spcPts val="0"/>
              </a:spcAft>
              <a:buClr>
                <a:schemeClr val="accent6"/>
              </a:buClr>
              <a:buSzPts val="1600"/>
              <a:buNone/>
            </a:pPr>
            <a:r>
              <a:rPr lang="en-US" sz="1600">
                <a:solidFill>
                  <a:schemeClr val="accent6"/>
                </a:solidFill>
              </a:rPr>
              <a:t>Kayla and Manasvi  ·  INFO 536 Midterm  ·  EJScreen 2024</a:t>
            </a:r>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 name="Shape 29"/>
        <p:cNvGrpSpPr/>
        <p:nvPr/>
      </p:nvGrpSpPr>
      <p:grpSpPr>
        <a:xfrm>
          <a:off x="0" y="0"/>
          <a:ext cx="0" cy="0"/>
          <a:chOff x="0" y="0"/>
          <a:chExt cx="0" cy="0"/>
        </a:xfrm>
      </p:grpSpPr>
      <p:sp>
        <p:nvSpPr>
          <p:cNvPr id="30" name="Google Shape;30;h7b81e594c78a31d6_0_13"/>
          <p:cNvSpPr txBox="1"/>
          <p:nvPr>
            <p:ph type="title"/>
          </p:nvPr>
        </p:nvSpPr>
        <p:spPr>
          <a:xfrm>
            <a:off x="457200" y="0"/>
            <a:ext cx="8229600" cy="5550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en-US"/>
              <a:t>“Cleaned” data for region analysis</a:t>
            </a:r>
            <a:endParaRPr/>
          </a:p>
        </p:txBody>
      </p:sp>
      <p:pic>
        <p:nvPicPr>
          <p:cNvPr id="31" name="Google Shape;31;h7b81e594c78a31d6_0_13" title="Screenshot 2026-10-17 at 13.38.35.png"/>
          <p:cNvPicPr preferRelativeResize="0"/>
          <p:nvPr/>
        </p:nvPicPr>
        <p:blipFill>
          <a:blip r:embed="rId3">
            <a:alphaModFix/>
          </a:blip>
          <a:stretch>
            <a:fillRect/>
          </a:stretch>
        </p:blipFill>
        <p:spPr>
          <a:xfrm>
            <a:off x="152400" y="555000"/>
            <a:ext cx="8839204" cy="3841256"/>
          </a:xfrm>
          <a:prstGeom prst="rect">
            <a:avLst/>
          </a:prstGeom>
          <a:noFill/>
          <a:ln>
            <a:noFill/>
          </a:ln>
        </p:spPr>
      </p:pic>
      <p:sp>
        <p:nvSpPr>
          <p:cNvPr id="32" name="Google Shape;32;h7b81e594c78a31d6_0_13"/>
          <p:cNvSpPr txBox="1"/>
          <p:nvPr/>
        </p:nvSpPr>
        <p:spPr>
          <a:xfrm>
            <a:off x="0" y="4389125"/>
            <a:ext cx="9144000" cy="34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000"/>
              <a:buFont typeface="Calibri"/>
              <a:buNone/>
            </a:pPr>
            <a:r>
              <a:rPr i="1" lang="en-US" sz="1500">
                <a:solidFill>
                  <a:schemeClr val="dk2"/>
                </a:solidFill>
                <a:latin typeface="Calibri"/>
                <a:ea typeface="Calibri"/>
                <a:cs typeface="Calibri"/>
                <a:sym typeface="Calibri"/>
              </a:rPr>
              <a:t>Began with 86,082 tracts, and after “cleaning” and dropping the </a:t>
            </a:r>
            <a:r>
              <a:rPr i="1" lang="en-US" sz="1500">
                <a:solidFill>
                  <a:schemeClr val="dk2"/>
                </a:solidFill>
                <a:latin typeface="Calibri"/>
                <a:ea typeface="Calibri"/>
                <a:cs typeface="Calibri"/>
                <a:sym typeface="Calibri"/>
              </a:rPr>
              <a:t>unnecessary</a:t>
            </a:r>
            <a:r>
              <a:rPr i="1" lang="en-US" sz="1500">
                <a:solidFill>
                  <a:schemeClr val="dk2"/>
                </a:solidFill>
                <a:latin typeface="Calibri"/>
                <a:ea typeface="Calibri"/>
                <a:cs typeface="Calibri"/>
                <a:sym typeface="Calibri"/>
              </a:rPr>
              <a:t> tracts brought our count </a:t>
            </a:r>
            <a:r>
              <a:rPr i="1" lang="en-US" sz="1500">
                <a:solidFill>
                  <a:schemeClr val="dk2"/>
                </a:solidFill>
                <a:latin typeface="Calibri"/>
                <a:ea typeface="Calibri"/>
                <a:cs typeface="Calibri"/>
                <a:sym typeface="Calibri"/>
              </a:rPr>
              <a:t>down</a:t>
            </a:r>
            <a:r>
              <a:rPr i="1" lang="en-US" sz="1500">
                <a:solidFill>
                  <a:schemeClr val="dk2"/>
                </a:solidFill>
                <a:latin typeface="Calibri"/>
                <a:ea typeface="Calibri"/>
                <a:cs typeface="Calibri"/>
                <a:sym typeface="Calibri"/>
              </a:rPr>
              <a:t> to 84,222</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 name="Shape 37"/>
        <p:cNvGrpSpPr/>
        <p:nvPr/>
      </p:nvGrpSpPr>
      <p:grpSpPr>
        <a:xfrm>
          <a:off x="0" y="0"/>
          <a:ext cx="0" cy="0"/>
          <a:chOff x="0" y="0"/>
          <a:chExt cx="0" cy="0"/>
        </a:xfrm>
      </p:grpSpPr>
      <p:sp>
        <p:nvSpPr>
          <p:cNvPr id="38" name="Google Shape;38;p2"/>
          <p:cNvSpPr txBox="1"/>
          <p:nvPr>
            <p:ph type="title"/>
          </p:nvPr>
        </p:nvSpPr>
        <p:spPr>
          <a:xfrm>
            <a:off x="457200" y="228600"/>
            <a:ext cx="8229600" cy="685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2600"/>
              <a:buFont typeface="Cambria"/>
              <a:buNone/>
            </a:pPr>
            <a:r>
              <a:rPr lang="en-US"/>
              <a:t>Region data</a:t>
            </a:r>
            <a:endParaRPr sz="2600"/>
          </a:p>
        </p:txBody>
      </p:sp>
      <p:sp>
        <p:nvSpPr>
          <p:cNvPr id="39" name="Google Shape;39;p2"/>
          <p:cNvSpPr txBox="1"/>
          <p:nvPr/>
        </p:nvSpPr>
        <p:spPr>
          <a:xfrm>
            <a:off x="457200" y="1051560"/>
            <a:ext cx="493776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mbria"/>
              <a:buNone/>
            </a:pPr>
            <a:r>
              <a:rPr b="0" i="1" lang="en-US" sz="1600" u="none" cap="none" strike="noStrike">
                <a:solidFill>
                  <a:schemeClr val="dk1"/>
                </a:solidFill>
                <a:latin typeface="Cambria"/>
                <a:ea typeface="Cambria"/>
                <a:cs typeface="Cambria"/>
                <a:sym typeface="Cambria"/>
              </a:rPr>
              <a:t>Residents of different demographic groups live with different levels of modelled diesel PM. </a:t>
            </a:r>
            <a:r>
              <a:rPr b="1" i="1" lang="en-US" sz="1600" u="none" cap="none" strike="noStrike">
                <a:solidFill>
                  <a:schemeClr val="dk1"/>
                </a:solidFill>
                <a:latin typeface="Cambria"/>
                <a:ea typeface="Cambria"/>
                <a:cs typeface="Cambria"/>
                <a:sym typeface="Cambria"/>
              </a:rPr>
              <a:t>How much of that gap remains once we account for population density, income, and geographic location?</a:t>
            </a:r>
            <a:endParaRPr b="1" i="0" sz="1600" u="none" cap="none" strike="noStrike">
              <a:solidFill>
                <a:schemeClr val="dk1"/>
              </a:solidFill>
              <a:latin typeface="Calibri"/>
              <a:ea typeface="Calibri"/>
              <a:cs typeface="Calibri"/>
              <a:sym typeface="Calibri"/>
            </a:endParaRPr>
          </a:p>
        </p:txBody>
      </p:sp>
      <p:sp>
        <p:nvSpPr>
          <p:cNvPr id="40" name="Google Shape;40;p2"/>
          <p:cNvSpPr txBox="1"/>
          <p:nvPr/>
        </p:nvSpPr>
        <p:spPr>
          <a:xfrm>
            <a:off x="457200" y="2377440"/>
            <a:ext cx="4937760" cy="2286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400"/>
              <a:buFont typeface="Calibri"/>
              <a:buChar char="•"/>
            </a:pPr>
            <a:r>
              <a:rPr b="0" i="0" lang="en-US" sz="1400" u="none" cap="none" strike="noStrike">
                <a:solidFill>
                  <a:schemeClr val="dk1"/>
                </a:solidFill>
                <a:latin typeface="Calibri"/>
                <a:ea typeface="Calibri"/>
                <a:cs typeface="Calibri"/>
                <a:sym typeface="Calibri"/>
              </a:rPr>
              <a:t>EPA EJScreen 2024 (v2.32); diesel PM from EPA's 2020 AirToxScreen model</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400"/>
              <a:buFont typeface="Calibri"/>
              <a:buChar char="•"/>
            </a:pPr>
            <a:r>
              <a:rPr b="0" i="0" lang="en-US" sz="1400" u="none" cap="none" strike="noStrike">
                <a:solidFill>
                  <a:schemeClr val="dk1"/>
                </a:solidFill>
                <a:latin typeface="Calibri"/>
                <a:ea typeface="Calibri"/>
                <a:cs typeface="Calibri"/>
                <a:sym typeface="Calibri"/>
              </a:rPr>
              <a:t>Unit: census tract (about 4,000 people), not individuals</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400"/>
              <a:buFont typeface="Calibri"/>
              <a:buChar char="•"/>
            </a:pPr>
            <a:r>
              <a:rPr b="0" i="0" lang="en-US" sz="1400" u="none" cap="none" strike="noStrike">
                <a:solidFill>
                  <a:schemeClr val="dk1"/>
                </a:solidFill>
                <a:latin typeface="Calibri"/>
                <a:ea typeface="Calibri"/>
                <a:cs typeface="Calibri"/>
                <a:sym typeface="Calibri"/>
              </a:rPr>
              <a:t>Kept tracts with at least 100 residents and a diesel estimate: 49 states, D.C., Puerto Rico</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400"/>
              <a:buFont typeface="Calibri"/>
              <a:buChar char="•"/>
            </a:pPr>
            <a:r>
              <a:rPr b="0" i="0" lang="en-US" sz="1400" u="none" cap="none" strike="noStrike">
                <a:solidFill>
                  <a:schemeClr val="dk1"/>
                </a:solidFill>
                <a:latin typeface="Calibri"/>
                <a:ea typeface="Calibri"/>
                <a:cs typeface="Calibri"/>
                <a:sym typeface="Calibri"/>
              </a:rPr>
              <a:t>Outcome on a log10 scale, so every coefficient reads as a % change in diesel PM</a:t>
            </a:r>
            <a:endParaRPr b="0" i="0" sz="1400" u="none" cap="none" strike="noStrike">
              <a:solidFill>
                <a:schemeClr val="dk1"/>
              </a:solidFill>
              <a:latin typeface="Calibri"/>
              <a:ea typeface="Calibri"/>
              <a:cs typeface="Calibri"/>
              <a:sym typeface="Calibri"/>
            </a:endParaRPr>
          </a:p>
        </p:txBody>
      </p:sp>
      <p:sp>
        <p:nvSpPr>
          <p:cNvPr id="41" name="Google Shape;41;p2"/>
          <p:cNvSpPr/>
          <p:nvPr/>
        </p:nvSpPr>
        <p:spPr>
          <a:xfrm>
            <a:off x="5760720" y="1051560"/>
            <a:ext cx="2926080" cy="1051560"/>
          </a:xfrm>
          <a:prstGeom prst="roundRect">
            <a:avLst>
              <a:gd fmla="val 695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txBox="1"/>
          <p:nvPr/>
        </p:nvSpPr>
        <p:spPr>
          <a:xfrm>
            <a:off x="5897880" y="1124712"/>
            <a:ext cx="2651760" cy="578358"/>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chemeClr val="accent1"/>
              </a:buClr>
              <a:buSzPts val="3000"/>
              <a:buFont typeface="Cambria"/>
              <a:buNone/>
            </a:pPr>
            <a:r>
              <a:rPr b="1" i="0" lang="en-US" sz="3000" u="none" cap="none" strike="noStrike">
                <a:solidFill>
                  <a:schemeClr val="accent1"/>
                </a:solidFill>
                <a:latin typeface="Cambria"/>
                <a:ea typeface="Cambria"/>
                <a:cs typeface="Cambria"/>
                <a:sym typeface="Cambria"/>
              </a:rPr>
              <a:t>84,222</a:t>
            </a:r>
            <a:endParaRPr b="0" i="0" sz="3000" u="none" cap="none" strike="noStrike">
              <a:solidFill>
                <a:schemeClr val="dk1"/>
              </a:solidFill>
              <a:latin typeface="Calibri"/>
              <a:ea typeface="Calibri"/>
              <a:cs typeface="Calibri"/>
              <a:sym typeface="Calibri"/>
            </a:endParaRPr>
          </a:p>
        </p:txBody>
      </p:sp>
      <p:sp>
        <p:nvSpPr>
          <p:cNvPr id="43" name="Google Shape;43;p2"/>
          <p:cNvSpPr txBox="1"/>
          <p:nvPr/>
        </p:nvSpPr>
        <p:spPr>
          <a:xfrm>
            <a:off x="5897880" y="1682496"/>
            <a:ext cx="2651760" cy="3995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census tracts in every model</a:t>
            </a:r>
            <a:endParaRPr b="0" i="0" sz="1200" u="none" cap="none" strike="noStrike">
              <a:solidFill>
                <a:schemeClr val="dk1"/>
              </a:solidFill>
              <a:latin typeface="Calibri"/>
              <a:ea typeface="Calibri"/>
              <a:cs typeface="Calibri"/>
              <a:sym typeface="Calibri"/>
            </a:endParaRPr>
          </a:p>
        </p:txBody>
      </p:sp>
      <p:sp>
        <p:nvSpPr>
          <p:cNvPr id="44" name="Google Shape;44;p2"/>
          <p:cNvSpPr/>
          <p:nvPr/>
        </p:nvSpPr>
        <p:spPr>
          <a:xfrm>
            <a:off x="5760720" y="2240280"/>
            <a:ext cx="2926080" cy="1051560"/>
          </a:xfrm>
          <a:prstGeom prst="roundRect">
            <a:avLst>
              <a:gd fmla="val 695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txBox="1"/>
          <p:nvPr/>
        </p:nvSpPr>
        <p:spPr>
          <a:xfrm>
            <a:off x="5897880" y="2313432"/>
            <a:ext cx="2651760" cy="578358"/>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chemeClr val="accent1"/>
              </a:buClr>
              <a:buSzPts val="3000"/>
              <a:buFont typeface="Cambria"/>
              <a:buNone/>
            </a:pPr>
            <a:r>
              <a:rPr b="1" i="0" lang="en-US" sz="3000" u="none" cap="none" strike="noStrike">
                <a:solidFill>
                  <a:schemeClr val="accent1"/>
                </a:solidFill>
                <a:latin typeface="Cambria"/>
                <a:ea typeface="Cambria"/>
                <a:cs typeface="Cambria"/>
                <a:sym typeface="Cambria"/>
              </a:rPr>
              <a:t>10</a:t>
            </a:r>
            <a:endParaRPr b="0" i="0" sz="3000" u="none" cap="none" strike="noStrike">
              <a:solidFill>
                <a:schemeClr val="dk1"/>
              </a:solidFill>
              <a:latin typeface="Calibri"/>
              <a:ea typeface="Calibri"/>
              <a:cs typeface="Calibri"/>
              <a:sym typeface="Calibri"/>
            </a:endParaRPr>
          </a:p>
        </p:txBody>
      </p:sp>
      <p:sp>
        <p:nvSpPr>
          <p:cNvPr id="46" name="Google Shape;46;p2"/>
          <p:cNvSpPr txBox="1"/>
          <p:nvPr/>
        </p:nvSpPr>
        <p:spPr>
          <a:xfrm>
            <a:off x="5897880" y="2871216"/>
            <a:ext cx="2651760" cy="3995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EPA regions (New England is the reference)</a:t>
            </a:r>
            <a:endParaRPr b="0" i="0" sz="1200" u="none" cap="none" strike="noStrike">
              <a:solidFill>
                <a:schemeClr val="dk1"/>
              </a:solidFill>
              <a:latin typeface="Calibri"/>
              <a:ea typeface="Calibri"/>
              <a:cs typeface="Calibri"/>
              <a:sym typeface="Calibri"/>
            </a:endParaRPr>
          </a:p>
        </p:txBody>
      </p:sp>
      <p:sp>
        <p:nvSpPr>
          <p:cNvPr id="47" name="Google Shape;47;p2"/>
          <p:cNvSpPr/>
          <p:nvPr/>
        </p:nvSpPr>
        <p:spPr>
          <a:xfrm>
            <a:off x="5760720" y="3429000"/>
            <a:ext cx="2926080" cy="1051560"/>
          </a:xfrm>
          <a:prstGeom prst="roundRect">
            <a:avLst>
              <a:gd fmla="val 695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txBox="1"/>
          <p:nvPr/>
        </p:nvSpPr>
        <p:spPr>
          <a:xfrm>
            <a:off x="5897880" y="3502152"/>
            <a:ext cx="2651760" cy="578358"/>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chemeClr val="accent1"/>
              </a:buClr>
              <a:buSzPts val="3000"/>
              <a:buFont typeface="Cambria"/>
              <a:buNone/>
            </a:pPr>
            <a:r>
              <a:rPr b="1" i="0" lang="en-US" sz="3000" u="none" cap="none" strike="noStrike">
                <a:solidFill>
                  <a:schemeClr val="accent1"/>
                </a:solidFill>
                <a:latin typeface="Cambria"/>
                <a:ea typeface="Cambria"/>
                <a:cs typeface="Cambria"/>
                <a:sym typeface="Cambria"/>
              </a:rPr>
              <a:t>+10 pts</a:t>
            </a:r>
            <a:endParaRPr b="0" i="0" sz="3000" u="none" cap="none" strike="noStrike">
              <a:solidFill>
                <a:schemeClr val="dk1"/>
              </a:solidFill>
              <a:latin typeface="Calibri"/>
              <a:ea typeface="Calibri"/>
              <a:cs typeface="Calibri"/>
              <a:sym typeface="Calibri"/>
            </a:endParaRPr>
          </a:p>
        </p:txBody>
      </p:sp>
      <p:sp>
        <p:nvSpPr>
          <p:cNvPr id="49" name="Google Shape;49;p2"/>
          <p:cNvSpPr txBox="1"/>
          <p:nvPr/>
        </p:nvSpPr>
        <p:spPr>
          <a:xfrm>
            <a:off x="5897880" y="4059936"/>
            <a:ext cx="2651760" cy="3995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unit for % people of color and % low income</a:t>
            </a:r>
            <a:endParaRPr b="0" i="0" sz="1200" u="none" cap="none" strike="noStrike">
              <a:solidFill>
                <a:schemeClr val="dk1"/>
              </a:solidFill>
              <a:latin typeface="Calibri"/>
              <a:ea typeface="Calibri"/>
              <a:cs typeface="Calibri"/>
              <a:sym typeface="Calibri"/>
            </a:endParaRPr>
          </a:p>
        </p:txBody>
      </p:sp>
      <p:sp>
        <p:nvSpPr>
          <p:cNvPr id="50" name="Google Shape;50;p2"/>
          <p:cNvSpPr txBox="1"/>
          <p:nvPr>
            <p:ph idx="4294967295" type="sldNum"/>
          </p:nvPr>
        </p:nvSpPr>
        <p:spPr>
          <a:xfrm>
            <a:off x="8412480" y="4800600"/>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chemeClr val="accent4"/>
                </a:solidFill>
                <a:latin typeface="Calibri"/>
                <a:ea typeface="Calibri"/>
                <a:cs typeface="Calibri"/>
                <a:sym typeface="Calibri"/>
              </a:rPr>
              <a:t>‹#›</a:t>
            </a:fld>
            <a:endParaRPr b="0" i="0" sz="900" u="none" cap="none" strike="noStrike">
              <a:solidFill>
                <a:schemeClr val="accent4"/>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3"/>
          <p:cNvSpPr txBox="1"/>
          <p:nvPr>
            <p:ph type="title"/>
          </p:nvPr>
        </p:nvSpPr>
        <p:spPr>
          <a:xfrm>
            <a:off x="457200" y="228600"/>
            <a:ext cx="8229600" cy="685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2600"/>
              <a:buFont typeface="Cambria"/>
              <a:buNone/>
            </a:pPr>
            <a:r>
              <a:rPr b="1" lang="en-US" sz="2600">
                <a:solidFill>
                  <a:schemeClr val="dk1"/>
                </a:solidFill>
              </a:rPr>
              <a:t>Every model tested</a:t>
            </a:r>
            <a:endParaRPr sz="2600"/>
          </a:p>
        </p:txBody>
      </p:sp>
      <p:graphicFrame>
        <p:nvGraphicFramePr>
          <p:cNvPr id="57" name="Google Shape;57;p3"/>
          <p:cNvGraphicFramePr/>
          <p:nvPr/>
        </p:nvGraphicFramePr>
        <p:xfrm>
          <a:off x="457200" y="1005840"/>
          <a:ext cx="3000000" cy="3000000"/>
        </p:xfrm>
        <a:graphic>
          <a:graphicData uri="http://schemas.openxmlformats.org/drawingml/2006/table">
            <a:tbl>
              <a:tblPr>
                <a:noFill/>
                <a:tableStyleId>{236773A3-AAB7-4EDC-96AD-0B37A0A406F1}</a:tableStyleId>
              </a:tblPr>
              <a:tblGrid>
                <a:gridCol w="1051550"/>
                <a:gridCol w="1188725"/>
                <a:gridCol w="2514600"/>
                <a:gridCol w="3474725"/>
              </a:tblGrid>
              <a:tr h="388650">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Model</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4A535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Type</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4A535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Formula / change</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4A535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What it asks</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4A535B"/>
                    </a:solidFill>
                  </a:tcPr>
                </a:tc>
              </a:tr>
              <a:tr h="529325">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m1</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Simple linear</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log_dsl ~ poc10</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Do tracts with more residents of color have more diesel PM?</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r>
              <a:tr h="388650">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m2</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Multiple linear</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 log_density</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...among tracts with the same density?</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r>
              <a:tr h="388650">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m3</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Multiple linear</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 lowinc10</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...and the same income?</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r>
              <a:tr h="388650">
                <a:tc>
                  <a:txBody>
                    <a:bodyPr/>
                    <a:lstStyle/>
                    <a:p>
                      <a:pPr indent="0" lvl="0" marL="0" marR="0" rtl="0" algn="l">
                        <a:spcBef>
                          <a:spcPts val="0"/>
                        </a:spcBef>
                        <a:spcAft>
                          <a:spcPts val="0"/>
                        </a:spcAft>
                        <a:buClr>
                          <a:srgbClr val="B5442C"/>
                        </a:buClr>
                        <a:buSzPts val="1100"/>
                        <a:buFont typeface="Calibri"/>
                        <a:buNone/>
                      </a:pPr>
                      <a:r>
                        <a:rPr b="1" lang="en-US" sz="1100" u="none" cap="none" strike="noStrike">
                          <a:solidFill>
                            <a:srgbClr val="B5442C"/>
                          </a:solidFill>
                        </a:rPr>
                        <a:t>m4</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B5442C"/>
                        </a:buClr>
                        <a:buSzPts val="1100"/>
                        <a:buFont typeface="Calibri"/>
                        <a:buNone/>
                      </a:pPr>
                      <a:r>
                        <a:rPr b="1" lang="en-US" sz="1100" u="none" cap="none" strike="noStrike">
                          <a:solidFill>
                            <a:srgbClr val="B5442C"/>
                          </a:solidFill>
                        </a:rPr>
                        <a:t>Multiple linear</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B5442C"/>
                        </a:buClr>
                        <a:buSzPts val="1100"/>
                        <a:buFont typeface="Calibri"/>
                        <a:buNone/>
                      </a:pPr>
                      <a:r>
                        <a:rPr b="1" lang="en-US" sz="1100" u="none" cap="none" strike="noStrike">
                          <a:solidFill>
                            <a:srgbClr val="B5442C"/>
                          </a:solidFill>
                        </a:rPr>
                        <a:t>+ region</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B5442C"/>
                        </a:buClr>
                        <a:buSzPts val="1100"/>
                        <a:buFont typeface="Calibri"/>
                        <a:buNone/>
                      </a:pPr>
                      <a:r>
                        <a:rPr b="1" lang="en-US" sz="1100" u="none" cap="none" strike="noStrike">
                          <a:solidFill>
                            <a:srgbClr val="B5442C"/>
                          </a:solidFill>
                        </a:rPr>
                        <a:t>...and in the same EPA region?</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r>
              <a:tr h="388650">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m4c</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Multiple linear</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m4, centered predictors</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What does a typical tract look like?</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r>
              <a:tr h="388650">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m4_rl</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Multiple linear</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m4, Southeast as reference</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Does the reference region matter?</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r>
              <a:tr h="388650">
                <a:tc>
                  <a:txBody>
                    <a:bodyPr/>
                    <a:lstStyle/>
                    <a:p>
                      <a:pPr indent="0" lvl="0" marL="0" marR="0" rtl="0" algn="l">
                        <a:spcBef>
                          <a:spcPts val="0"/>
                        </a:spcBef>
                        <a:spcAft>
                          <a:spcPts val="0"/>
                        </a:spcAft>
                        <a:buClr>
                          <a:srgbClr val="B5442C"/>
                        </a:buClr>
                        <a:buSzPts val="1100"/>
                        <a:buFont typeface="Calibri"/>
                        <a:buNone/>
                      </a:pPr>
                      <a:r>
                        <a:rPr b="1" lang="en-US" sz="1100" u="none" cap="none" strike="noStrike">
                          <a:solidFill>
                            <a:srgbClr val="B5442C"/>
                          </a:solidFill>
                        </a:rPr>
                        <a:t>m5</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5442C"/>
                        </a:buClr>
                        <a:buSzPts val="1100"/>
                        <a:buFont typeface="Calibri"/>
                        <a:buNone/>
                      </a:pPr>
                      <a:r>
                        <a:rPr b="1" lang="en-US" sz="1100" u="none" cap="none" strike="noStrike">
                          <a:solidFill>
                            <a:srgbClr val="B5442C"/>
                          </a:solidFill>
                        </a:rPr>
                        <a:t>Interaction</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5442C"/>
                        </a:buClr>
                        <a:buSzPts val="1100"/>
                        <a:buFont typeface="Calibri"/>
                        <a:buNone/>
                      </a:pPr>
                      <a:r>
                        <a:rPr b="1" lang="en-US" sz="1100" u="none" cap="none" strike="noStrike">
                          <a:solidFill>
                            <a:srgbClr val="B5442C"/>
                          </a:solidFill>
                        </a:rPr>
                        <a:t>poc10 * region + density + income</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5442C"/>
                        </a:buClr>
                        <a:buSzPts val="1100"/>
                        <a:buFont typeface="Calibri"/>
                        <a:buNone/>
                      </a:pPr>
                      <a:r>
                        <a:rPr b="1" lang="en-US" sz="1100" u="none" cap="none" strike="noStrike">
                          <a:solidFill>
                            <a:srgbClr val="B5442C"/>
                          </a:solidFill>
                        </a:rPr>
                        <a:t>Does the slope differ by region?</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r>
            </a:tbl>
          </a:graphicData>
        </a:graphic>
      </p:graphicFrame>
      <p:sp>
        <p:nvSpPr>
          <p:cNvPr id="58" name="Google Shape;58;p3"/>
          <p:cNvSpPr txBox="1"/>
          <p:nvPr>
            <p:ph idx="4294967295" type="sldNum"/>
          </p:nvPr>
        </p:nvSpPr>
        <p:spPr>
          <a:xfrm>
            <a:off x="8412480" y="4800600"/>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chemeClr val="accent4"/>
                </a:solidFill>
                <a:latin typeface="Calibri"/>
                <a:ea typeface="Calibri"/>
                <a:cs typeface="Calibri"/>
                <a:sym typeface="Calibri"/>
              </a:rPr>
              <a:t>‹#›</a:t>
            </a:fld>
            <a:endParaRPr b="0" i="0" sz="900" u="none" cap="none" strike="noStrike">
              <a:solidFill>
                <a:schemeClr val="accent4"/>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4"/>
          <p:cNvSpPr txBox="1"/>
          <p:nvPr>
            <p:ph type="title"/>
          </p:nvPr>
        </p:nvSpPr>
        <p:spPr>
          <a:xfrm>
            <a:off x="457200" y="228600"/>
            <a:ext cx="8229600" cy="685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2600"/>
              <a:buFont typeface="Cambria"/>
              <a:buNone/>
            </a:pPr>
            <a:r>
              <a:rPr b="1" lang="en-US" sz="2600">
                <a:solidFill>
                  <a:schemeClr val="dk1"/>
                </a:solidFill>
              </a:rPr>
              <a:t>Model 1: more residents of color, more diesel PM</a:t>
            </a:r>
            <a:endParaRPr sz="2600"/>
          </a:p>
        </p:txBody>
      </p:sp>
      <p:pic>
        <p:nvPicPr>
          <p:cNvPr descr="/home/claude/slides/fig/fig1_simple.png" id="65" name="Google Shape;65;p4"/>
          <p:cNvPicPr preferRelativeResize="0"/>
          <p:nvPr/>
        </p:nvPicPr>
        <p:blipFill rotWithShape="1">
          <a:blip r:embed="rId3">
            <a:alphaModFix/>
          </a:blip>
          <a:srcRect b="0" l="0" r="0" t="0"/>
          <a:stretch/>
        </p:blipFill>
        <p:spPr>
          <a:xfrm>
            <a:off x="457200" y="1005840"/>
            <a:ext cx="5394960" cy="3333820"/>
          </a:xfrm>
          <a:prstGeom prst="rect">
            <a:avLst/>
          </a:prstGeom>
          <a:noFill/>
          <a:ln>
            <a:noFill/>
          </a:ln>
        </p:spPr>
      </p:pic>
      <p:sp>
        <p:nvSpPr>
          <p:cNvPr id="66" name="Google Shape;66;p4"/>
          <p:cNvSpPr txBox="1"/>
          <p:nvPr/>
        </p:nvSpPr>
        <p:spPr>
          <a:xfrm>
            <a:off x="457200" y="4389120"/>
            <a:ext cx="5394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000"/>
              <a:buFont typeface="Calibri"/>
              <a:buNone/>
            </a:pPr>
            <a:r>
              <a:rPr b="0" i="1" lang="en-US" sz="1000" u="none" cap="none" strike="noStrike">
                <a:solidFill>
                  <a:schemeClr val="dk2"/>
                </a:solidFill>
                <a:latin typeface="Calibri"/>
                <a:ea typeface="Calibri"/>
                <a:cs typeface="Calibri"/>
                <a:sym typeface="Calibri"/>
              </a:rPr>
              <a:t>Hexagons count tracts; red line = m1 with 95% CI band. Log scale.</a:t>
            </a:r>
            <a:endParaRPr b="0" i="0" sz="1000" u="none" cap="none" strike="noStrike">
              <a:solidFill>
                <a:schemeClr val="dk1"/>
              </a:solidFill>
              <a:latin typeface="Calibri"/>
              <a:ea typeface="Calibri"/>
              <a:cs typeface="Calibri"/>
              <a:sym typeface="Calibri"/>
            </a:endParaRPr>
          </a:p>
        </p:txBody>
      </p:sp>
      <p:sp>
        <p:nvSpPr>
          <p:cNvPr id="67" name="Google Shape;67;p4"/>
          <p:cNvSpPr/>
          <p:nvPr/>
        </p:nvSpPr>
        <p:spPr>
          <a:xfrm>
            <a:off x="6126480" y="1005840"/>
            <a:ext cx="2560320" cy="1051560"/>
          </a:xfrm>
          <a:prstGeom prst="roundRect">
            <a:avLst>
              <a:gd fmla="val 695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txBox="1"/>
          <p:nvPr/>
        </p:nvSpPr>
        <p:spPr>
          <a:xfrm>
            <a:off x="6263640" y="1078992"/>
            <a:ext cx="2286000" cy="578358"/>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chemeClr val="accent1"/>
              </a:buClr>
              <a:buSzPts val="3000"/>
              <a:buFont typeface="Cambria"/>
              <a:buNone/>
            </a:pPr>
            <a:r>
              <a:rPr b="1" i="0" lang="en-US" sz="3000" u="none" cap="none" strike="noStrike">
                <a:solidFill>
                  <a:schemeClr val="accent1"/>
                </a:solidFill>
                <a:latin typeface="Cambria"/>
                <a:ea typeface="Cambria"/>
                <a:cs typeface="Cambria"/>
                <a:sym typeface="Cambria"/>
              </a:rPr>
              <a:t>+10.6%</a:t>
            </a:r>
            <a:endParaRPr b="0" i="0" sz="3000" u="none" cap="none" strike="noStrike">
              <a:solidFill>
                <a:schemeClr val="dk1"/>
              </a:solidFill>
              <a:latin typeface="Calibri"/>
              <a:ea typeface="Calibri"/>
              <a:cs typeface="Calibri"/>
              <a:sym typeface="Calibri"/>
            </a:endParaRPr>
          </a:p>
        </p:txBody>
      </p:sp>
      <p:sp>
        <p:nvSpPr>
          <p:cNvPr id="69" name="Google Shape;69;p4"/>
          <p:cNvSpPr txBox="1"/>
          <p:nvPr/>
        </p:nvSpPr>
        <p:spPr>
          <a:xfrm>
            <a:off x="6263640" y="1636776"/>
            <a:ext cx="2286000" cy="3995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diesel PM per +10 pts people of color (95% CI 10.4 to 10.8)</a:t>
            </a:r>
            <a:endParaRPr b="0" i="0" sz="1200" u="none" cap="none" strike="noStrike">
              <a:solidFill>
                <a:schemeClr val="dk1"/>
              </a:solidFill>
              <a:latin typeface="Calibri"/>
              <a:ea typeface="Calibri"/>
              <a:cs typeface="Calibri"/>
              <a:sym typeface="Calibri"/>
            </a:endParaRPr>
          </a:p>
        </p:txBody>
      </p:sp>
      <p:sp>
        <p:nvSpPr>
          <p:cNvPr id="70" name="Google Shape;70;p4"/>
          <p:cNvSpPr/>
          <p:nvPr/>
        </p:nvSpPr>
        <p:spPr>
          <a:xfrm>
            <a:off x="6126480" y="2194560"/>
            <a:ext cx="2560320" cy="1051560"/>
          </a:xfrm>
          <a:prstGeom prst="roundRect">
            <a:avLst>
              <a:gd fmla="val 695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
          <p:cNvSpPr txBox="1"/>
          <p:nvPr/>
        </p:nvSpPr>
        <p:spPr>
          <a:xfrm>
            <a:off x="6263640" y="2267712"/>
            <a:ext cx="2286000" cy="578358"/>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chemeClr val="accent1"/>
              </a:buClr>
              <a:buSzPts val="2600"/>
              <a:buFont typeface="Cambria"/>
              <a:buNone/>
            </a:pPr>
            <a:r>
              <a:rPr b="1" i="0" lang="en-US" sz="2600" u="none" cap="none" strike="noStrike">
                <a:solidFill>
                  <a:schemeClr val="accent1"/>
                </a:solidFill>
                <a:latin typeface="Cambria"/>
                <a:ea typeface="Cambria"/>
                <a:cs typeface="Cambria"/>
                <a:sym typeface="Cambria"/>
              </a:rPr>
              <a:t>R² = 0.158</a:t>
            </a:r>
            <a:endParaRPr b="0" i="0" sz="2600" u="none" cap="none" strike="noStrike">
              <a:solidFill>
                <a:schemeClr val="dk1"/>
              </a:solidFill>
              <a:latin typeface="Calibri"/>
              <a:ea typeface="Calibri"/>
              <a:cs typeface="Calibri"/>
              <a:sym typeface="Calibri"/>
            </a:endParaRPr>
          </a:p>
        </p:txBody>
      </p:sp>
      <p:sp>
        <p:nvSpPr>
          <p:cNvPr id="72" name="Google Shape;72;p4"/>
          <p:cNvSpPr txBox="1"/>
          <p:nvPr/>
        </p:nvSpPr>
        <p:spPr>
          <a:xfrm>
            <a:off x="6263640" y="2825496"/>
            <a:ext cx="2286000" cy="3995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race alone explains about 16% of the variation</a:t>
            </a:r>
            <a:endParaRPr b="0" i="0" sz="1200" u="none" cap="none" strike="noStrike">
              <a:solidFill>
                <a:schemeClr val="dk1"/>
              </a:solidFill>
              <a:latin typeface="Calibri"/>
              <a:ea typeface="Calibri"/>
              <a:cs typeface="Calibri"/>
              <a:sym typeface="Calibri"/>
            </a:endParaRPr>
          </a:p>
        </p:txBody>
      </p:sp>
      <p:sp>
        <p:nvSpPr>
          <p:cNvPr id="73" name="Google Shape;73;p4"/>
          <p:cNvSpPr/>
          <p:nvPr/>
        </p:nvSpPr>
        <p:spPr>
          <a:xfrm>
            <a:off x="6126480" y="3383280"/>
            <a:ext cx="2560320" cy="1051560"/>
          </a:xfrm>
          <a:prstGeom prst="roundRect">
            <a:avLst>
              <a:gd fmla="val 695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
          <p:cNvSpPr txBox="1"/>
          <p:nvPr/>
        </p:nvSpPr>
        <p:spPr>
          <a:xfrm>
            <a:off x="6263640" y="3456432"/>
            <a:ext cx="2286000" cy="578358"/>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chemeClr val="accent1"/>
              </a:buClr>
              <a:buSzPts val="3000"/>
              <a:buFont typeface="Cambria"/>
              <a:buNone/>
            </a:pPr>
            <a:r>
              <a:rPr b="1" i="0" lang="en-US" sz="3000" u="none" cap="none" strike="noStrike">
                <a:solidFill>
                  <a:schemeClr val="accent1"/>
                </a:solidFill>
                <a:latin typeface="Cambria"/>
                <a:ea typeface="Cambria"/>
                <a:cs typeface="Cambria"/>
                <a:sym typeface="Cambria"/>
              </a:rPr>
              <a:t>×2</a:t>
            </a:r>
            <a:endParaRPr b="0" i="0" sz="3000" u="none" cap="none" strike="noStrike">
              <a:solidFill>
                <a:schemeClr val="dk1"/>
              </a:solidFill>
              <a:latin typeface="Calibri"/>
              <a:ea typeface="Calibri"/>
              <a:cs typeface="Calibri"/>
              <a:sym typeface="Calibri"/>
            </a:endParaRPr>
          </a:p>
        </p:txBody>
      </p:sp>
      <p:sp>
        <p:nvSpPr>
          <p:cNvPr id="75" name="Google Shape;75;p4"/>
          <p:cNvSpPr txBox="1"/>
          <p:nvPr/>
        </p:nvSpPr>
        <p:spPr>
          <a:xfrm>
            <a:off x="6263640" y="4014216"/>
            <a:ext cx="2286000" cy="3995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typical miss (RSE 0.304 on the log10 scale)</a:t>
            </a:r>
            <a:endParaRPr b="0" i="0" sz="1200" u="none" cap="none" strike="noStrike">
              <a:solidFill>
                <a:schemeClr val="dk1"/>
              </a:solidFill>
              <a:latin typeface="Calibri"/>
              <a:ea typeface="Calibri"/>
              <a:cs typeface="Calibri"/>
              <a:sym typeface="Calibri"/>
            </a:endParaRPr>
          </a:p>
        </p:txBody>
      </p:sp>
      <p:sp>
        <p:nvSpPr>
          <p:cNvPr id="76" name="Google Shape;76;p4"/>
          <p:cNvSpPr txBox="1"/>
          <p:nvPr>
            <p:ph idx="4294967295" type="sldNum"/>
          </p:nvPr>
        </p:nvSpPr>
        <p:spPr>
          <a:xfrm>
            <a:off x="8412480" y="4800600"/>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chemeClr val="accent4"/>
                </a:solidFill>
                <a:latin typeface="Calibri"/>
                <a:ea typeface="Calibri"/>
                <a:cs typeface="Calibri"/>
                <a:sym typeface="Calibri"/>
              </a:rPr>
              <a:t>‹#›</a:t>
            </a:fld>
            <a:endParaRPr b="0" i="0" sz="900" u="none" cap="none" strike="noStrike">
              <a:solidFill>
                <a:schemeClr val="accent4"/>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5"/>
          <p:cNvSpPr txBox="1"/>
          <p:nvPr>
            <p:ph type="title"/>
          </p:nvPr>
        </p:nvSpPr>
        <p:spPr>
          <a:xfrm>
            <a:off x="457200" y="228600"/>
            <a:ext cx="8229600" cy="685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2600"/>
              <a:buFont typeface="Cambria"/>
              <a:buNone/>
            </a:pPr>
            <a:r>
              <a:rPr b="1" lang="en-US" sz="2600">
                <a:solidFill>
                  <a:schemeClr val="dk1"/>
                </a:solidFill>
              </a:rPr>
              <a:t>Density explains most of the gap, but not all</a:t>
            </a:r>
            <a:endParaRPr sz="2600"/>
          </a:p>
        </p:txBody>
      </p:sp>
      <p:sp>
        <p:nvSpPr>
          <p:cNvPr id="83" name="Google Shape;83;p5"/>
          <p:cNvSpPr txBox="1"/>
          <p:nvPr/>
        </p:nvSpPr>
        <p:spPr>
          <a:xfrm>
            <a:off x="457200" y="4206240"/>
            <a:ext cx="4023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000"/>
              <a:buFont typeface="Calibri"/>
              <a:buNone/>
            </a:pPr>
            <a:r>
              <a:rPr i="1" lang="en-US" sz="1000">
                <a:solidFill>
                  <a:schemeClr val="dk2"/>
                </a:solidFill>
                <a:latin typeface="Calibri"/>
                <a:ea typeface="Calibri"/>
                <a:cs typeface="Calibri"/>
                <a:sym typeface="Calibri"/>
              </a:rPr>
              <a:t>Points are estimates; lines are county-clustered 95% CIs</a:t>
            </a:r>
            <a:endParaRPr b="0" i="0" sz="1000" u="none" cap="none" strike="noStrike">
              <a:solidFill>
                <a:schemeClr val="dk1"/>
              </a:solidFill>
              <a:latin typeface="Calibri"/>
              <a:ea typeface="Calibri"/>
              <a:cs typeface="Calibri"/>
              <a:sym typeface="Calibri"/>
            </a:endParaRPr>
          </a:p>
        </p:txBody>
      </p:sp>
      <p:graphicFrame>
        <p:nvGraphicFramePr>
          <p:cNvPr id="84" name="Google Shape;84;p5"/>
          <p:cNvGraphicFramePr/>
          <p:nvPr/>
        </p:nvGraphicFramePr>
        <p:xfrm>
          <a:off x="4754880" y="1051560"/>
          <a:ext cx="3000000" cy="3000000"/>
        </p:xfrm>
        <a:graphic>
          <a:graphicData uri="http://schemas.openxmlformats.org/drawingml/2006/table">
            <a:tbl>
              <a:tblPr>
                <a:noFill/>
                <a:tableStyleId>{236773A3-AAB7-4EDC-96AD-0B37A0A406F1}</a:tableStyleId>
              </a:tblPr>
              <a:tblGrid>
                <a:gridCol w="1051550"/>
                <a:gridCol w="731525"/>
                <a:gridCol w="1143000"/>
                <a:gridCol w="502925"/>
                <a:gridCol w="502925"/>
              </a:tblGrid>
              <a:tr h="292600">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Model</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4A535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 per +10</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4A535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Clustered 95% CI</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4A535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R²</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4A535B"/>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rPr>
                        <a:t>RSE</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4A535B"/>
                    </a:solidFill>
                  </a:tcPr>
                </a:tc>
              </a:tr>
              <a:tr h="292600">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1. Race only</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10.6</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8.7 to 12.6</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0.158</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0.304</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r>
              <a:tr h="292600">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2. + density</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0.8</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−0.4 to 2.0</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0.614</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0.205</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r>
              <a:tr h="292600">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3. + income</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2.5</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1.2 to 3.9</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0.625</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100"/>
                        <a:buFont typeface="Calibri"/>
                        <a:buNone/>
                      </a:pPr>
                      <a:r>
                        <a:rPr lang="en-US" sz="1100" u="none" cap="none" strike="noStrike">
                          <a:solidFill>
                            <a:srgbClr val="23282D"/>
                          </a:solidFill>
                        </a:rPr>
                        <a:t>0.202</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r>
              <a:tr h="292600">
                <a:tc>
                  <a:txBody>
                    <a:bodyPr/>
                    <a:lstStyle/>
                    <a:p>
                      <a:pPr indent="0" lvl="0" marL="0" marR="0" rtl="0" algn="l">
                        <a:spcBef>
                          <a:spcPts val="0"/>
                        </a:spcBef>
                        <a:spcAft>
                          <a:spcPts val="0"/>
                        </a:spcAft>
                        <a:buClr>
                          <a:srgbClr val="B5442C"/>
                        </a:buClr>
                        <a:buSzPts val="1100"/>
                        <a:buFont typeface="Calibri"/>
                        <a:buNone/>
                      </a:pPr>
                      <a:r>
                        <a:rPr b="1" lang="en-US" sz="1100" u="none" cap="none" strike="noStrike">
                          <a:solidFill>
                            <a:srgbClr val="B5442C"/>
                          </a:solidFill>
                        </a:rPr>
                        <a:t>4. + region</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B5442C"/>
                        </a:buClr>
                        <a:buSzPts val="1100"/>
                        <a:buFont typeface="Calibri"/>
                        <a:buNone/>
                      </a:pPr>
                      <a:r>
                        <a:rPr b="1" lang="en-US" sz="1100" u="none" cap="none" strike="noStrike">
                          <a:solidFill>
                            <a:srgbClr val="B5442C"/>
                          </a:solidFill>
                        </a:rPr>
                        <a:t>2.9</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B5442C"/>
                        </a:buClr>
                        <a:buSzPts val="1100"/>
                        <a:buFont typeface="Calibri"/>
                        <a:buNone/>
                      </a:pPr>
                      <a:r>
                        <a:rPr b="1" lang="en-US" sz="1100" u="none" cap="none" strike="noStrike">
                          <a:solidFill>
                            <a:srgbClr val="B5442C"/>
                          </a:solidFill>
                        </a:rPr>
                        <a:t>1.9 to 3.8</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B5442C"/>
                        </a:buClr>
                        <a:buSzPts val="1100"/>
                        <a:buFont typeface="Calibri"/>
                        <a:buNone/>
                      </a:pPr>
                      <a:r>
                        <a:rPr b="1" lang="en-US" sz="1100" u="none" cap="none" strike="noStrike">
                          <a:solidFill>
                            <a:srgbClr val="B5442C"/>
                          </a:solidFill>
                        </a:rPr>
                        <a:t>0.642</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B5442C"/>
                        </a:buClr>
                        <a:buSzPts val="1100"/>
                        <a:buFont typeface="Calibri"/>
                        <a:buNone/>
                      </a:pPr>
                      <a:r>
                        <a:rPr b="1" lang="en-US" sz="1100" u="none" cap="none" strike="noStrike">
                          <a:solidFill>
                            <a:srgbClr val="B5442C"/>
                          </a:solidFill>
                        </a:rPr>
                        <a:t>0.198</a:t>
                      </a:r>
                      <a:endParaRPr sz="11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r>
            </a:tbl>
          </a:graphicData>
        </a:graphic>
      </p:graphicFrame>
      <p:sp>
        <p:nvSpPr>
          <p:cNvPr id="85" name="Google Shape;85;p5"/>
          <p:cNvSpPr txBox="1"/>
          <p:nvPr/>
        </p:nvSpPr>
        <p:spPr>
          <a:xfrm>
            <a:off x="4754880" y="2743200"/>
            <a:ext cx="3931920" cy="1645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Density </a:t>
            </a:r>
            <a:r>
              <a:rPr b="0" i="0" lang="en-US" sz="1400" u="none" cap="none" strike="noStrike">
                <a:solidFill>
                  <a:schemeClr val="dk1"/>
                </a:solidFill>
                <a:latin typeface="Calibri"/>
                <a:ea typeface="Calibri"/>
                <a:cs typeface="Calibri"/>
                <a:sym typeface="Calibri"/>
              </a:rPr>
              <a:t>drops it from 10.6% to 0.8%</a:t>
            </a:r>
            <a:endParaRPr b="0" i="0" sz="14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Income </a:t>
            </a:r>
            <a:r>
              <a:rPr b="0" i="0" lang="en-US" sz="1400" u="none" cap="none" strike="noStrike">
                <a:solidFill>
                  <a:schemeClr val="dk1"/>
                </a:solidFill>
                <a:latin typeface="Calibri"/>
                <a:ea typeface="Calibri"/>
                <a:cs typeface="Calibri"/>
                <a:sym typeface="Calibri"/>
              </a:rPr>
              <a:t>brings it back to 2.5% (suppression)</a:t>
            </a:r>
            <a:endParaRPr b="0" i="0" sz="14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Region: </a:t>
            </a:r>
            <a:r>
              <a:rPr b="0" i="0" lang="en-US" sz="1400" u="none" cap="none" strike="noStrike">
                <a:solidFill>
                  <a:schemeClr val="dk1"/>
                </a:solidFill>
                <a:latin typeface="Calibri"/>
                <a:ea typeface="Calibri"/>
                <a:cs typeface="Calibri"/>
                <a:sym typeface="Calibri"/>
              </a:rPr>
              <a:t>2.9%, interval above zero</a:t>
            </a:r>
            <a:endParaRPr b="0" i="0" sz="1400" u="none" cap="none" strike="noStrike">
              <a:solidFill>
                <a:schemeClr val="dk1"/>
              </a:solidFill>
              <a:latin typeface="Calibri"/>
              <a:ea typeface="Calibri"/>
              <a:cs typeface="Calibri"/>
              <a:sym typeface="Calibri"/>
            </a:endParaRPr>
          </a:p>
        </p:txBody>
      </p:sp>
      <p:sp>
        <p:nvSpPr>
          <p:cNvPr id="86" name="Google Shape;86;p5"/>
          <p:cNvSpPr txBox="1"/>
          <p:nvPr>
            <p:ph idx="4294967295" type="sldNum"/>
          </p:nvPr>
        </p:nvSpPr>
        <p:spPr>
          <a:xfrm>
            <a:off x="8412480" y="4800600"/>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chemeClr val="accent4"/>
                </a:solidFill>
                <a:latin typeface="Calibri"/>
                <a:ea typeface="Calibri"/>
                <a:cs typeface="Calibri"/>
                <a:sym typeface="Calibri"/>
              </a:rPr>
              <a:t>‹#›</a:t>
            </a:fld>
            <a:endParaRPr b="0" i="0" sz="900" u="none" cap="none" strike="noStrike">
              <a:solidFill>
                <a:schemeClr val="accent4"/>
              </a:solidFill>
              <a:latin typeface="Calibri"/>
              <a:ea typeface="Calibri"/>
              <a:cs typeface="Calibri"/>
              <a:sym typeface="Calibri"/>
            </a:endParaRPr>
          </a:p>
        </p:txBody>
      </p:sp>
      <p:pic>
        <p:nvPicPr>
          <p:cNvPr id="87" name="Google Shape;87;p5" title="Screenshot 2026-10-17 at 12.46.11.png"/>
          <p:cNvPicPr preferRelativeResize="0"/>
          <p:nvPr/>
        </p:nvPicPr>
        <p:blipFill>
          <a:blip r:embed="rId3">
            <a:alphaModFix/>
          </a:blip>
          <a:stretch>
            <a:fillRect/>
          </a:stretch>
        </p:blipFill>
        <p:spPr>
          <a:xfrm>
            <a:off x="152400" y="1066800"/>
            <a:ext cx="4450080" cy="276391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6"/>
          <p:cNvSpPr txBox="1"/>
          <p:nvPr>
            <p:ph type="title"/>
          </p:nvPr>
        </p:nvSpPr>
        <p:spPr>
          <a:xfrm>
            <a:off x="457200" y="228600"/>
            <a:ext cx="8229600" cy="685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2600"/>
              <a:buFont typeface="Cambria"/>
              <a:buNone/>
            </a:pPr>
            <a:r>
              <a:rPr b="1" lang="en-US" sz="2600">
                <a:solidFill>
                  <a:schemeClr val="dk1"/>
                </a:solidFill>
              </a:rPr>
              <a:t>Reading the main model (m4)</a:t>
            </a:r>
            <a:endParaRPr sz="2600"/>
          </a:p>
        </p:txBody>
      </p:sp>
      <p:graphicFrame>
        <p:nvGraphicFramePr>
          <p:cNvPr id="94" name="Google Shape;94;p6"/>
          <p:cNvGraphicFramePr/>
          <p:nvPr/>
        </p:nvGraphicFramePr>
        <p:xfrm>
          <a:off x="457200" y="1051560"/>
          <a:ext cx="3000000" cy="3000000"/>
        </p:xfrm>
        <a:graphic>
          <a:graphicData uri="http://schemas.openxmlformats.org/drawingml/2006/table">
            <a:tbl>
              <a:tblPr>
                <a:noFill/>
                <a:tableStyleId>{236773A3-AAB7-4EDC-96AD-0B37A0A406F1}</a:tableStyleId>
              </a:tblPr>
              <a:tblGrid>
                <a:gridCol w="1828800"/>
                <a:gridCol w="1005850"/>
                <a:gridCol w="1005850"/>
                <a:gridCol w="1737350"/>
                <a:gridCol w="1097275"/>
                <a:gridCol w="1554475"/>
              </a:tblGrid>
              <a:tr h="31090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Term</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4A535B"/>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Estimate</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4A535B"/>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 change</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4A535B"/>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Clustered 95% CI</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4A535B"/>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t</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4A535B"/>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p</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4A535B"/>
                    </a:solidFill>
                  </a:tcPr>
                </a:tc>
              </a:tr>
              <a:tr h="310900">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poc10 (+10 pts)</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0.0123</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+2.9</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1.9 to 3.8</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5.87</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4.3e-09</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r>
              <a:tr h="310900">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log_density (×10)</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0.2652</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+84.2</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79.4 to 89.1</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45.68</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&lt;1e-16</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r>
              <a:tr h="310900">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lowinc10 (+10 pts)</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−0.0229</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−5.1</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−6.2 to −4.1</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−9.27</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2.0e-20</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r>
              <a:tr h="310900">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Intercept</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−1.6396</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−74.47</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&lt;1e-16</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r>
            </a:tbl>
          </a:graphicData>
        </a:graphic>
      </p:graphicFrame>
      <p:sp>
        <p:nvSpPr>
          <p:cNvPr id="95" name="Google Shape;95;p6"/>
          <p:cNvSpPr/>
          <p:nvPr/>
        </p:nvSpPr>
        <p:spPr>
          <a:xfrm>
            <a:off x="457200" y="2880360"/>
            <a:ext cx="2606040" cy="1508760"/>
          </a:xfrm>
          <a:prstGeom prst="roundRect">
            <a:avLst>
              <a:gd fmla="val 484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txBox="1"/>
          <p:nvPr/>
        </p:nvSpPr>
        <p:spPr>
          <a:xfrm>
            <a:off x="594360" y="2953512"/>
            <a:ext cx="2331720" cy="829818"/>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chemeClr val="accent1"/>
              </a:buClr>
              <a:buSzPts val="3000"/>
              <a:buFont typeface="Cambria"/>
              <a:buNone/>
            </a:pPr>
            <a:r>
              <a:rPr b="1" i="0" lang="en-US" sz="3000" u="none" cap="none" strike="noStrike">
                <a:solidFill>
                  <a:schemeClr val="accent1"/>
                </a:solidFill>
                <a:latin typeface="Cambria"/>
                <a:ea typeface="Cambria"/>
                <a:cs typeface="Cambria"/>
                <a:sym typeface="Cambria"/>
              </a:rPr>
              <a:t>+2.9%</a:t>
            </a:r>
            <a:endParaRPr b="0" i="0" sz="3000" u="none" cap="none" strike="noStrike">
              <a:solidFill>
                <a:schemeClr val="dk1"/>
              </a:solidFill>
              <a:latin typeface="Calibri"/>
              <a:ea typeface="Calibri"/>
              <a:cs typeface="Calibri"/>
              <a:sym typeface="Calibri"/>
            </a:endParaRPr>
          </a:p>
        </p:txBody>
      </p:sp>
      <p:sp>
        <p:nvSpPr>
          <p:cNvPr id="97" name="Google Shape;97;p6"/>
          <p:cNvSpPr txBox="1"/>
          <p:nvPr/>
        </p:nvSpPr>
        <p:spPr>
          <a:xfrm>
            <a:off x="594360" y="3785616"/>
            <a:ext cx="2331720" cy="57332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per +10 pts residents of color, holding density, income, and region constant</a:t>
            </a:r>
            <a:endParaRPr b="0" i="0" sz="1200" u="none" cap="none" strike="noStrike">
              <a:solidFill>
                <a:schemeClr val="dk1"/>
              </a:solidFill>
              <a:latin typeface="Calibri"/>
              <a:ea typeface="Calibri"/>
              <a:cs typeface="Calibri"/>
              <a:sym typeface="Calibri"/>
            </a:endParaRPr>
          </a:p>
        </p:txBody>
      </p:sp>
      <p:sp>
        <p:nvSpPr>
          <p:cNvPr id="98" name="Google Shape;98;p6"/>
          <p:cNvSpPr/>
          <p:nvPr/>
        </p:nvSpPr>
        <p:spPr>
          <a:xfrm>
            <a:off x="3268980" y="2880360"/>
            <a:ext cx="2606040" cy="1508760"/>
          </a:xfrm>
          <a:prstGeom prst="roundRect">
            <a:avLst>
              <a:gd fmla="val 484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
          <p:cNvSpPr txBox="1"/>
          <p:nvPr/>
        </p:nvSpPr>
        <p:spPr>
          <a:xfrm>
            <a:off x="3406140" y="2953512"/>
            <a:ext cx="2331720" cy="829818"/>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chemeClr val="accent1"/>
              </a:buClr>
              <a:buSzPts val="3000"/>
              <a:buFont typeface="Cambria"/>
              <a:buNone/>
            </a:pPr>
            <a:r>
              <a:rPr b="1" i="0" lang="en-US" sz="3000" u="none" cap="none" strike="noStrike">
                <a:solidFill>
                  <a:schemeClr val="accent1"/>
                </a:solidFill>
                <a:latin typeface="Cambria"/>
                <a:ea typeface="Cambria"/>
                <a:cs typeface="Cambria"/>
                <a:sym typeface="Cambria"/>
              </a:rPr>
              <a:t>+84%</a:t>
            </a:r>
            <a:endParaRPr b="0" i="0" sz="3000" u="none" cap="none" strike="noStrike">
              <a:solidFill>
                <a:schemeClr val="dk1"/>
              </a:solidFill>
              <a:latin typeface="Calibri"/>
              <a:ea typeface="Calibri"/>
              <a:cs typeface="Calibri"/>
              <a:sym typeface="Calibri"/>
            </a:endParaRPr>
          </a:p>
        </p:txBody>
      </p:sp>
      <p:sp>
        <p:nvSpPr>
          <p:cNvPr id="100" name="Google Shape;100;p6"/>
          <p:cNvSpPr txBox="1"/>
          <p:nvPr/>
        </p:nvSpPr>
        <p:spPr>
          <a:xfrm>
            <a:off x="3406140" y="3785616"/>
            <a:ext cx="2331720" cy="57332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for a tract ten times denser: by far the strongest predictor</a:t>
            </a:r>
            <a:endParaRPr b="0" i="0" sz="1200" u="none" cap="none" strike="noStrike">
              <a:solidFill>
                <a:schemeClr val="dk1"/>
              </a:solidFill>
              <a:latin typeface="Calibri"/>
              <a:ea typeface="Calibri"/>
              <a:cs typeface="Calibri"/>
              <a:sym typeface="Calibri"/>
            </a:endParaRPr>
          </a:p>
        </p:txBody>
      </p:sp>
      <p:sp>
        <p:nvSpPr>
          <p:cNvPr id="101" name="Google Shape;101;p6"/>
          <p:cNvSpPr/>
          <p:nvPr/>
        </p:nvSpPr>
        <p:spPr>
          <a:xfrm>
            <a:off x="6080760" y="2880360"/>
            <a:ext cx="2606040" cy="1508760"/>
          </a:xfrm>
          <a:prstGeom prst="roundRect">
            <a:avLst>
              <a:gd fmla="val 484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txBox="1"/>
          <p:nvPr/>
        </p:nvSpPr>
        <p:spPr>
          <a:xfrm>
            <a:off x="6217920" y="2953512"/>
            <a:ext cx="2331720" cy="829818"/>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chemeClr val="accent1"/>
              </a:buClr>
              <a:buSzPts val="3000"/>
              <a:buFont typeface="Cambria"/>
              <a:buNone/>
            </a:pPr>
            <a:r>
              <a:rPr b="1" i="0" lang="en-US" sz="3000" u="none" cap="none" strike="noStrike">
                <a:solidFill>
                  <a:schemeClr val="accent1"/>
                </a:solidFill>
                <a:latin typeface="Cambria"/>
                <a:ea typeface="Cambria"/>
                <a:cs typeface="Cambria"/>
                <a:sym typeface="Cambria"/>
              </a:rPr>
              <a:t>−5.1%</a:t>
            </a:r>
            <a:endParaRPr b="0" i="0" sz="3000" u="none" cap="none" strike="noStrike">
              <a:solidFill>
                <a:schemeClr val="dk1"/>
              </a:solidFill>
              <a:latin typeface="Calibri"/>
              <a:ea typeface="Calibri"/>
              <a:cs typeface="Calibri"/>
              <a:sym typeface="Calibri"/>
            </a:endParaRPr>
          </a:p>
        </p:txBody>
      </p:sp>
      <p:sp>
        <p:nvSpPr>
          <p:cNvPr id="103" name="Google Shape;103;p6"/>
          <p:cNvSpPr txBox="1"/>
          <p:nvPr/>
        </p:nvSpPr>
        <p:spPr>
          <a:xfrm>
            <a:off x="6217920" y="3785616"/>
            <a:ext cx="2331720" cy="57332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per +10 pts low income: the suppression effect</a:t>
            </a:r>
            <a:endParaRPr b="0" i="0" sz="1200" u="none" cap="none" strike="noStrike">
              <a:solidFill>
                <a:schemeClr val="dk1"/>
              </a:solidFill>
              <a:latin typeface="Calibri"/>
              <a:ea typeface="Calibri"/>
              <a:cs typeface="Calibri"/>
              <a:sym typeface="Calibri"/>
            </a:endParaRPr>
          </a:p>
        </p:txBody>
      </p:sp>
      <p:sp>
        <p:nvSpPr>
          <p:cNvPr id="104" name="Google Shape;104;p6"/>
          <p:cNvSpPr txBox="1"/>
          <p:nvPr>
            <p:ph idx="4294967295" type="sldNum"/>
          </p:nvPr>
        </p:nvSpPr>
        <p:spPr>
          <a:xfrm>
            <a:off x="8412480" y="4800600"/>
            <a:ext cx="4572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900" u="none" cap="none" strike="noStrike">
                <a:solidFill>
                  <a:schemeClr val="accent4"/>
                </a:solidFill>
                <a:latin typeface="Calibri"/>
                <a:ea typeface="Calibri"/>
                <a:cs typeface="Calibri"/>
                <a:sym typeface="Calibri"/>
              </a:rPr>
              <a:t>‹#›</a:t>
            </a:fld>
            <a:endParaRPr b="0" i="0" sz="900" u="none" cap="none" strike="noStrike">
              <a:solidFill>
                <a:schemeClr val="accent4"/>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7"/>
          <p:cNvSpPr txBox="1"/>
          <p:nvPr>
            <p:ph type="title"/>
          </p:nvPr>
        </p:nvSpPr>
        <p:spPr>
          <a:xfrm>
            <a:off x="457200" y="228600"/>
            <a:ext cx="8229600" cy="685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2600"/>
              <a:buFont typeface="Cambria"/>
              <a:buNone/>
            </a:pPr>
            <a:r>
              <a:rPr b="1" lang="en-US" sz="2600">
                <a:solidFill>
                  <a:schemeClr val="dk1"/>
                </a:solidFill>
              </a:rPr>
              <a:t>VIF checks and a meaningful intercept</a:t>
            </a:r>
            <a:endParaRPr sz="2600"/>
          </a:p>
        </p:txBody>
      </p:sp>
      <p:sp>
        <p:nvSpPr>
          <p:cNvPr id="111" name="Google Shape;111;p7"/>
          <p:cNvSpPr txBox="1"/>
          <p:nvPr/>
        </p:nvSpPr>
        <p:spPr>
          <a:xfrm>
            <a:off x="457200" y="1005840"/>
            <a:ext cx="3840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Correlations</a:t>
            </a:r>
            <a:endParaRPr b="0" i="0" sz="1600" u="none" cap="none" strike="noStrike">
              <a:solidFill>
                <a:schemeClr val="dk1"/>
              </a:solidFill>
              <a:latin typeface="Calibri"/>
              <a:ea typeface="Calibri"/>
              <a:cs typeface="Calibri"/>
              <a:sym typeface="Calibri"/>
            </a:endParaRPr>
          </a:p>
        </p:txBody>
      </p:sp>
      <p:graphicFrame>
        <p:nvGraphicFramePr>
          <p:cNvPr id="112" name="Google Shape;112;p7"/>
          <p:cNvGraphicFramePr/>
          <p:nvPr/>
        </p:nvGraphicFramePr>
        <p:xfrm>
          <a:off x="457200" y="1371600"/>
          <a:ext cx="3000000" cy="3000000"/>
        </p:xfrm>
        <a:graphic>
          <a:graphicData uri="http://schemas.openxmlformats.org/drawingml/2006/table">
            <a:tbl>
              <a:tblPr>
                <a:noFill/>
                <a:tableStyleId>{236773A3-AAB7-4EDC-96AD-0B37A0A406F1}</a:tableStyleId>
              </a:tblPr>
              <a:tblGrid>
                <a:gridCol w="1234450"/>
                <a:gridCol w="777250"/>
                <a:gridCol w="914400"/>
                <a:gridCol w="914400"/>
              </a:tblGrid>
              <a:tr h="274325">
                <a:tc>
                  <a:txBody>
                    <a:bodyPr/>
                    <a:lstStyle/>
                    <a:p>
                      <a:pPr indent="0" lvl="0" marL="0" marR="0" rtl="0" algn="l">
                        <a:spcBef>
                          <a:spcPts val="0"/>
                        </a:spcBef>
                        <a:spcAft>
                          <a:spcPts val="0"/>
                        </a:spcAft>
                        <a:buClr>
                          <a:schemeClr val="dk1"/>
                        </a:buClr>
                        <a:buSzPts val="1200"/>
                        <a:buFont typeface="Calibri"/>
                        <a:buNone/>
                      </a:pPr>
                      <a:r>
                        <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4A535B"/>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 POC</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4A535B"/>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 low inc.</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4A535B"/>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log density</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4A535B"/>
                    </a:solidFill>
                  </a:tcPr>
                </a:tc>
              </a:tr>
              <a:tr h="274325">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 POC</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1</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0.45</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0.48</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 low income</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0.45</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1</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0.05</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r>
              <a:tr h="274325">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log density</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0.48</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0.05</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1</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r>
            </a:tbl>
          </a:graphicData>
        </a:graphic>
      </p:graphicFrame>
      <p:sp>
        <p:nvSpPr>
          <p:cNvPr id="113" name="Google Shape;113;p7"/>
          <p:cNvSpPr txBox="1"/>
          <p:nvPr/>
        </p:nvSpPr>
        <p:spPr>
          <a:xfrm>
            <a:off x="457200" y="2651760"/>
            <a:ext cx="3840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Variance inflation factor</a:t>
            </a:r>
            <a:endParaRPr b="0" i="0" sz="1600" u="none" cap="none" strike="noStrike">
              <a:solidFill>
                <a:schemeClr val="dk1"/>
              </a:solidFill>
              <a:latin typeface="Calibri"/>
              <a:ea typeface="Calibri"/>
              <a:cs typeface="Calibri"/>
              <a:sym typeface="Calibri"/>
            </a:endParaRPr>
          </a:p>
        </p:txBody>
      </p:sp>
      <p:graphicFrame>
        <p:nvGraphicFramePr>
          <p:cNvPr id="114" name="Google Shape;114;p7"/>
          <p:cNvGraphicFramePr/>
          <p:nvPr/>
        </p:nvGraphicFramePr>
        <p:xfrm>
          <a:off x="457200" y="3017520"/>
          <a:ext cx="3000000" cy="3000000"/>
        </p:xfrm>
        <a:graphic>
          <a:graphicData uri="http://schemas.openxmlformats.org/drawingml/2006/table">
            <a:tbl>
              <a:tblPr>
                <a:noFill/>
                <a:tableStyleId>{236773A3-AAB7-4EDC-96AD-0B37A0A406F1}</a:tableStyleId>
              </a:tblPr>
              <a:tblGrid>
                <a:gridCol w="1463050"/>
                <a:gridCol w="914400"/>
              </a:tblGrid>
              <a:tr h="274325">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Predictor</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4A535B"/>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VIF</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4A535B"/>
                    </a:solidFill>
                  </a:tcPr>
                </a:tc>
              </a:tr>
              <a:tr h="274325">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poc10</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2.01</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log_density</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1.46</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r>
              <a:tr h="274325">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lowinc10</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1.38</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r>
            </a:tbl>
          </a:graphicData>
        </a:graphic>
      </p:graphicFrame>
      <p:sp>
        <p:nvSpPr>
          <p:cNvPr id="115" name="Google Shape;115;p7"/>
          <p:cNvSpPr txBox="1"/>
          <p:nvPr/>
        </p:nvSpPr>
        <p:spPr>
          <a:xfrm>
            <a:off x="2971800" y="3017520"/>
            <a:ext cx="146304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1" lang="en-US" sz="1200" u="none" cap="none" strike="noStrike">
                <a:solidFill>
                  <a:schemeClr val="dk2"/>
                </a:solidFill>
                <a:latin typeface="Calibri"/>
                <a:ea typeface="Calibri"/>
                <a:cs typeface="Calibri"/>
                <a:sym typeface="Calibri"/>
              </a:rPr>
              <a:t>All below 5: coefficients can be trusted</a:t>
            </a:r>
            <a:endParaRPr b="0" i="0" sz="1200" u="none" cap="none" strike="noStrike">
              <a:solidFill>
                <a:schemeClr val="dk1"/>
              </a:solidFill>
              <a:latin typeface="Calibri"/>
              <a:ea typeface="Calibri"/>
              <a:cs typeface="Calibri"/>
              <a:sym typeface="Calibri"/>
            </a:endParaRPr>
          </a:p>
        </p:txBody>
      </p:sp>
      <p:sp>
        <p:nvSpPr>
          <p:cNvPr id="116" name="Google Shape;116;p7"/>
          <p:cNvSpPr txBox="1"/>
          <p:nvPr/>
        </p:nvSpPr>
        <p:spPr>
          <a:xfrm>
            <a:off x="4846320" y="1005840"/>
            <a:ext cx="3840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Centering the predictors</a:t>
            </a:r>
            <a:endParaRPr b="0" i="0" sz="1600" u="none" cap="none" strike="noStrike">
              <a:solidFill>
                <a:schemeClr val="dk1"/>
              </a:solidFill>
              <a:latin typeface="Calibri"/>
              <a:ea typeface="Calibri"/>
              <a:cs typeface="Calibri"/>
              <a:sym typeface="Calibri"/>
            </a:endParaRPr>
          </a:p>
        </p:txBody>
      </p:sp>
      <p:sp>
        <p:nvSpPr>
          <p:cNvPr id="117" name="Google Shape;117;p7"/>
          <p:cNvSpPr/>
          <p:nvPr/>
        </p:nvSpPr>
        <p:spPr>
          <a:xfrm>
            <a:off x="4846320" y="1371600"/>
            <a:ext cx="1828800" cy="1188720"/>
          </a:xfrm>
          <a:prstGeom prst="roundRect">
            <a:avLst>
              <a:gd fmla="val 615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
          <p:cNvSpPr txBox="1"/>
          <p:nvPr/>
        </p:nvSpPr>
        <p:spPr>
          <a:xfrm>
            <a:off x="4983480" y="1444752"/>
            <a:ext cx="1554480" cy="653796"/>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chemeClr val="accent2"/>
              </a:buClr>
              <a:buSzPts val="2600"/>
              <a:buFont typeface="Cambria"/>
              <a:buNone/>
            </a:pPr>
            <a:r>
              <a:rPr b="1" i="0" lang="en-US" sz="2600" u="none" cap="none" strike="noStrike">
                <a:solidFill>
                  <a:schemeClr val="accent2"/>
                </a:solidFill>
                <a:latin typeface="Cambria"/>
                <a:ea typeface="Cambria"/>
                <a:cs typeface="Cambria"/>
                <a:sym typeface="Cambria"/>
              </a:rPr>
              <a:t>0.023</a:t>
            </a:r>
            <a:endParaRPr b="0" i="0" sz="2600" u="none" cap="none" strike="noStrike">
              <a:solidFill>
                <a:schemeClr val="dk1"/>
              </a:solidFill>
              <a:latin typeface="Calibri"/>
              <a:ea typeface="Calibri"/>
              <a:cs typeface="Calibri"/>
              <a:sym typeface="Calibri"/>
            </a:endParaRPr>
          </a:p>
        </p:txBody>
      </p:sp>
      <p:sp>
        <p:nvSpPr>
          <p:cNvPr id="119" name="Google Shape;119;p7"/>
          <p:cNvSpPr txBox="1"/>
          <p:nvPr/>
        </p:nvSpPr>
        <p:spPr>
          <a:xfrm>
            <a:off x="4983480" y="2084832"/>
            <a:ext cx="1554480" cy="45171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µg/m³ uncentered: a tract that doesn't exist</a:t>
            </a:r>
            <a:endParaRPr b="0" i="0" sz="1200" u="none" cap="none" strike="noStrike">
              <a:solidFill>
                <a:schemeClr val="dk1"/>
              </a:solidFill>
              <a:latin typeface="Calibri"/>
              <a:ea typeface="Calibri"/>
              <a:cs typeface="Calibri"/>
              <a:sym typeface="Calibri"/>
            </a:endParaRPr>
          </a:p>
        </p:txBody>
      </p:sp>
      <p:sp>
        <p:nvSpPr>
          <p:cNvPr id="120" name="Google Shape;120;p7"/>
          <p:cNvSpPr/>
          <p:nvPr/>
        </p:nvSpPr>
        <p:spPr>
          <a:xfrm>
            <a:off x="6858000" y="1371600"/>
            <a:ext cx="1828800" cy="1188720"/>
          </a:xfrm>
          <a:prstGeom prst="roundRect">
            <a:avLst>
              <a:gd fmla="val 615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
          <p:cNvSpPr txBox="1"/>
          <p:nvPr/>
        </p:nvSpPr>
        <p:spPr>
          <a:xfrm>
            <a:off x="6995160" y="1444752"/>
            <a:ext cx="1554480" cy="653796"/>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chemeClr val="accent1"/>
              </a:buClr>
              <a:buSzPts val="2600"/>
              <a:buFont typeface="Cambria"/>
              <a:buNone/>
            </a:pPr>
            <a:r>
              <a:rPr b="1" i="0" lang="en-US" sz="2600" u="none" cap="none" strike="noStrike">
                <a:solidFill>
                  <a:schemeClr val="accent1"/>
                </a:solidFill>
                <a:latin typeface="Cambria"/>
                <a:ea typeface="Cambria"/>
                <a:cs typeface="Cambria"/>
                <a:sym typeface="Cambria"/>
              </a:rPr>
              <a:t>0.113</a:t>
            </a:r>
            <a:endParaRPr b="0" i="0" sz="2600" u="none" cap="none" strike="noStrike">
              <a:solidFill>
                <a:schemeClr val="dk1"/>
              </a:solidFill>
              <a:latin typeface="Calibri"/>
              <a:ea typeface="Calibri"/>
              <a:cs typeface="Calibri"/>
              <a:sym typeface="Calibri"/>
            </a:endParaRPr>
          </a:p>
        </p:txBody>
      </p:sp>
      <p:sp>
        <p:nvSpPr>
          <p:cNvPr id="122" name="Google Shape;122;p7"/>
          <p:cNvSpPr txBox="1"/>
          <p:nvPr/>
        </p:nvSpPr>
        <p:spPr>
          <a:xfrm>
            <a:off x="6893049" y="2098550"/>
            <a:ext cx="1755600" cy="451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µg/m³ centered: a typical tract in New England</a:t>
            </a:r>
            <a:endParaRPr b="0" i="0" sz="1200" u="none" cap="none" strike="noStrike">
              <a:solidFill>
                <a:schemeClr val="dk1"/>
              </a:solidFill>
              <a:latin typeface="Calibri"/>
              <a:ea typeface="Calibri"/>
              <a:cs typeface="Calibri"/>
              <a:sym typeface="Calibri"/>
            </a:endParaRPr>
          </a:p>
        </p:txBody>
      </p:sp>
      <p:sp>
        <p:nvSpPr>
          <p:cNvPr id="123" name="Google Shape;123;p7"/>
          <p:cNvSpPr txBox="1"/>
          <p:nvPr/>
        </p:nvSpPr>
        <p:spPr>
          <a:xfrm>
            <a:off x="4846320" y="2788920"/>
            <a:ext cx="3840480" cy="13716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400"/>
              <a:buFont typeface="Calibri"/>
              <a:buChar char="•"/>
            </a:pPr>
            <a:r>
              <a:rPr b="0" i="0" lang="en-US" sz="1400" u="none" cap="none" strike="noStrike">
                <a:solidFill>
                  <a:schemeClr val="dk1"/>
                </a:solidFill>
                <a:latin typeface="Calibri"/>
                <a:ea typeface="Calibri"/>
                <a:cs typeface="Calibri"/>
                <a:sym typeface="Calibri"/>
              </a:rPr>
              <a:t>Slopes identical (0.0123) and every prediction identical</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400"/>
              <a:buFont typeface="Calibri"/>
              <a:buChar char="•"/>
            </a:pPr>
            <a:r>
              <a:rPr b="0" i="0" lang="en-US" sz="1400" u="none" cap="none" strike="noStrike">
                <a:solidFill>
                  <a:schemeClr val="dk1"/>
                </a:solidFill>
                <a:latin typeface="Calibri"/>
                <a:ea typeface="Calibri"/>
                <a:cs typeface="Calibri"/>
                <a:sym typeface="Calibri"/>
              </a:rPr>
              <a:t>Only the meaning of the intercept changes</a:t>
            </a:r>
            <a:endParaRPr b="0" i="0" sz="1400" u="none" cap="none" strike="noStrike">
              <a:solidFill>
                <a:schemeClr val="dk1"/>
              </a:solidFill>
              <a:latin typeface="Calibri"/>
              <a:ea typeface="Calibri"/>
              <a:cs typeface="Calibri"/>
              <a:sym typeface="Calibri"/>
            </a:endParaRPr>
          </a:p>
        </p:txBody>
      </p:sp>
      <p:sp>
        <p:nvSpPr>
          <p:cNvPr id="124" name="Google Shape;124;p7"/>
          <p:cNvSpPr txBox="1"/>
          <p:nvPr>
            <p:ph idx="4294967295" type="sldNum"/>
          </p:nvPr>
        </p:nvSpPr>
        <p:spPr>
          <a:xfrm>
            <a:off x="8412480" y="4800600"/>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chemeClr val="accent4"/>
                </a:solidFill>
                <a:latin typeface="Calibri"/>
                <a:ea typeface="Calibri"/>
                <a:cs typeface="Calibri"/>
                <a:sym typeface="Calibri"/>
              </a:rPr>
              <a:t>‹#›</a:t>
            </a:fld>
            <a:endParaRPr b="0" i="0" sz="900" u="none" cap="none" strike="noStrike">
              <a:solidFill>
                <a:schemeClr val="accent4"/>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h3d19a9cfc7ef64c4_0_8"/>
          <p:cNvSpPr txBox="1"/>
          <p:nvPr>
            <p:ph type="title"/>
          </p:nvPr>
        </p:nvSpPr>
        <p:spPr>
          <a:xfrm>
            <a:off x="457200" y="228600"/>
            <a:ext cx="8229600" cy="685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2600"/>
              <a:buFont typeface="Cambria"/>
              <a:buNone/>
            </a:pPr>
            <a:r>
              <a:rPr b="1" lang="en-US" sz="2600">
                <a:solidFill>
                  <a:schemeClr val="dk1"/>
                </a:solidFill>
              </a:rPr>
              <a:t>Region terms: every region is above New England</a:t>
            </a:r>
            <a:endParaRPr sz="2600"/>
          </a:p>
        </p:txBody>
      </p:sp>
      <p:graphicFrame>
        <p:nvGraphicFramePr>
          <p:cNvPr id="131" name="Google Shape;131;h3d19a9cfc7ef64c4_0_8"/>
          <p:cNvGraphicFramePr/>
          <p:nvPr/>
        </p:nvGraphicFramePr>
        <p:xfrm>
          <a:off x="457200" y="1005840"/>
          <a:ext cx="3000000" cy="3000000"/>
        </p:xfrm>
        <a:graphic>
          <a:graphicData uri="http://schemas.openxmlformats.org/drawingml/2006/table">
            <a:tbl>
              <a:tblPr>
                <a:noFill/>
                <a:tableStyleId>{236773A3-AAB7-4EDC-96AD-0B37A0A406F1}</a:tableStyleId>
              </a:tblPr>
              <a:tblGrid>
                <a:gridCol w="1691650"/>
                <a:gridCol w="731525"/>
                <a:gridCol w="685800"/>
                <a:gridCol w="1143000"/>
                <a:gridCol w="502925"/>
                <a:gridCol w="822950"/>
              </a:tblGrid>
              <a:tr h="29260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Region</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4A535B"/>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Estimate</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4A535B"/>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 diff.</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4A535B"/>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Clustered 95% CI</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4A535B"/>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t</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4A535B"/>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rPr>
                        <a:t>p</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4A535B"/>
                    </a:solidFill>
                  </a:tcPr>
                </a:tc>
              </a:tr>
              <a:tr h="292600">
                <a:tc>
                  <a:txBody>
                    <a:bodyPr/>
                    <a:lstStyle/>
                    <a:p>
                      <a:pPr indent="0" lvl="0" marL="0" marR="0" rtl="0" algn="l">
                        <a:spcBef>
                          <a:spcPts val="0"/>
                        </a:spcBef>
                        <a:spcAft>
                          <a:spcPts val="0"/>
                        </a:spcAft>
                        <a:buClr>
                          <a:srgbClr val="B5442C"/>
                        </a:buClr>
                        <a:buSzPts val="1200"/>
                        <a:buFont typeface="Calibri"/>
                        <a:buNone/>
                      </a:pPr>
                      <a:r>
                        <a:rPr b="1" lang="en-US" sz="1200" u="none" cap="none" strike="noStrike">
                          <a:solidFill>
                            <a:srgbClr val="B5442C"/>
                          </a:solidFill>
                        </a:rPr>
                        <a:t>10 Pacific Northwest</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5442C"/>
                        </a:buClr>
                        <a:buSzPts val="1200"/>
                        <a:buFont typeface="Calibri"/>
                        <a:buNone/>
                      </a:pPr>
                      <a:r>
                        <a:rPr b="1" lang="en-US" sz="1200" u="none" cap="none" strike="noStrike">
                          <a:solidFill>
                            <a:srgbClr val="B5442C"/>
                          </a:solidFill>
                        </a:rPr>
                        <a:t>0.1777</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5442C"/>
                        </a:buClr>
                        <a:buSzPts val="1200"/>
                        <a:buFont typeface="Calibri"/>
                        <a:buNone/>
                      </a:pPr>
                      <a:r>
                        <a:rPr b="1" lang="en-US" sz="1200" u="none" cap="none" strike="noStrike">
                          <a:solidFill>
                            <a:srgbClr val="B5442C"/>
                          </a:solidFill>
                        </a:rPr>
                        <a:t>+50.5%</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5442C"/>
                        </a:buClr>
                        <a:buSzPts val="1200"/>
                        <a:buFont typeface="Calibri"/>
                        <a:buNone/>
                      </a:pPr>
                      <a:r>
                        <a:rPr b="1" lang="en-US" sz="1200" u="none" cap="none" strike="noStrike">
                          <a:solidFill>
                            <a:srgbClr val="B5442C"/>
                          </a:solidFill>
                        </a:rPr>
                        <a:t>27.3 to 78.0</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5442C"/>
                        </a:buClr>
                        <a:buSzPts val="1200"/>
                        <a:buFont typeface="Calibri"/>
                        <a:buNone/>
                      </a:pPr>
                      <a:r>
                        <a:rPr b="1" lang="en-US" sz="1200" u="none" cap="none" strike="noStrike">
                          <a:solidFill>
                            <a:srgbClr val="B5442C"/>
                          </a:solidFill>
                        </a:rPr>
                        <a:t>4.79</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B5442C"/>
                        </a:buClr>
                        <a:buSzPts val="1200"/>
                        <a:buFont typeface="Calibri"/>
                        <a:buNone/>
                      </a:pPr>
                      <a:r>
                        <a:rPr b="1" lang="en-US" sz="1200" u="none" cap="none" strike="noStrike">
                          <a:solidFill>
                            <a:srgbClr val="B5442C"/>
                          </a:solidFill>
                        </a:rPr>
                        <a:t>1.7e-06</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r>
              <a:tr h="292600">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7 Central Plains</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0.1660</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+46.5%</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35.2 to 58.9</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9.27</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1.8e-20</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r>
              <a:tr h="292600">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5 Great Lakes</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0.1592</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+44.3%</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31.7 to 58.1</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7.84</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4.5e-15</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r>
              <a:tr h="292600">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9 Pacific Southwest</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0.1356</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+36.7%</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15.3 to 62.0</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3.60</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3.1e-04</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r>
              <a:tr h="292600">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4 Southeast</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0.1106</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+29.0%</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19.1 to 39.7</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6.27</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3.6e-10</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r>
              <a:tr h="292600">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3 Mid-Atlantic</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0.1083</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+28.3%</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18.6 to 38.8</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6.22</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5.1e-10</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r>
              <a:tr h="292600">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2 NY/NJ/PR</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0.0801</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+20.2%</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1.6 to 42.3</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2.15</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0.032</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r>
              <a:tr h="292600">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6 South Central</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0.0698</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+17.4%</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6.7 to 29.2</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3.29</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0.001</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7F8F9"/>
                    </a:solidFill>
                  </a:tcPr>
                </a:tc>
              </a:tr>
              <a:tr h="292600">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8 Mountains &amp; Plains</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0.0396</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+9.5%</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−5.6 to 27.1</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1.20</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3282D"/>
                        </a:buClr>
                        <a:buSzPts val="1200"/>
                        <a:buFont typeface="Calibri"/>
                        <a:buNone/>
                      </a:pPr>
                      <a:r>
                        <a:rPr lang="en-US" sz="1200" u="none" cap="none" strike="noStrike">
                          <a:solidFill>
                            <a:srgbClr val="23282D"/>
                          </a:solidFill>
                        </a:rPr>
                        <a:t>0.228</a:t>
                      </a:r>
                      <a:endParaRPr sz="1200" u="none" cap="none" strike="noStrike"/>
                    </a:p>
                  </a:txBody>
                  <a:tcPr marT="25400" marB="25400" marR="63500" marL="63500" anchor="ctr">
                    <a:lnL cap="flat" cmpd="sng" w="9525">
                      <a:solidFill>
                        <a:srgbClr val="C9CED2"/>
                      </a:solidFill>
                      <a:prstDash val="solid"/>
                      <a:round/>
                      <a:headEnd len="sm" w="sm" type="none"/>
                      <a:tailEnd len="sm" w="sm" type="none"/>
                    </a:lnL>
                    <a:lnR cap="flat" cmpd="sng" w="9525">
                      <a:solidFill>
                        <a:srgbClr val="C9CED2"/>
                      </a:solidFill>
                      <a:prstDash val="solid"/>
                      <a:round/>
                      <a:headEnd len="sm" w="sm" type="none"/>
                      <a:tailEnd len="sm" w="sm" type="none"/>
                    </a:lnR>
                    <a:lnT cap="flat" cmpd="sng" w="9525">
                      <a:solidFill>
                        <a:srgbClr val="C9CED2"/>
                      </a:solidFill>
                      <a:prstDash val="solid"/>
                      <a:round/>
                      <a:headEnd len="sm" w="sm" type="none"/>
                      <a:tailEnd len="sm" w="sm" type="none"/>
                    </a:lnT>
                    <a:lnB cap="flat" cmpd="sng" w="9525">
                      <a:solidFill>
                        <a:srgbClr val="C9CED2"/>
                      </a:solidFill>
                      <a:prstDash val="solid"/>
                      <a:round/>
                      <a:headEnd len="sm" w="sm" type="none"/>
                      <a:tailEnd len="sm" w="sm" type="none"/>
                    </a:lnB>
                    <a:solidFill>
                      <a:srgbClr val="FFFFFF"/>
                    </a:solidFill>
                  </a:tcPr>
                </a:tc>
              </a:tr>
            </a:tbl>
          </a:graphicData>
        </a:graphic>
      </p:graphicFrame>
      <p:sp>
        <p:nvSpPr>
          <p:cNvPr id="132" name="Google Shape;132;h3d19a9cfc7ef64c4_0_8"/>
          <p:cNvSpPr txBox="1"/>
          <p:nvPr/>
        </p:nvSpPr>
        <p:spPr>
          <a:xfrm>
            <a:off x="457200" y="4251960"/>
            <a:ext cx="55779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000"/>
              <a:buFont typeface="Calibri"/>
              <a:buNone/>
            </a:pPr>
            <a:r>
              <a:rPr b="0" i="1" lang="en-US" sz="1000" u="none" cap="none" strike="noStrike">
                <a:solidFill>
                  <a:schemeClr val="dk2"/>
                </a:solidFill>
                <a:latin typeface="Calibri"/>
                <a:ea typeface="Calibri"/>
                <a:cs typeface="Calibri"/>
                <a:sym typeface="Calibri"/>
              </a:rPr>
              <a:t>Each row vs. 1 New England (reference), from m4, holding race, density, and income constant.</a:t>
            </a:r>
            <a:endParaRPr b="0" i="0" sz="1000" u="none" cap="none" strike="noStrike">
              <a:solidFill>
                <a:schemeClr val="dk1"/>
              </a:solidFill>
              <a:latin typeface="Calibri"/>
              <a:ea typeface="Calibri"/>
              <a:cs typeface="Calibri"/>
              <a:sym typeface="Calibri"/>
            </a:endParaRPr>
          </a:p>
        </p:txBody>
      </p:sp>
      <p:sp>
        <p:nvSpPr>
          <p:cNvPr id="133" name="Google Shape;133;h3d19a9cfc7ef64c4_0_8"/>
          <p:cNvSpPr/>
          <p:nvPr/>
        </p:nvSpPr>
        <p:spPr>
          <a:xfrm>
            <a:off x="6309360" y="1005840"/>
            <a:ext cx="2377500" cy="1005900"/>
          </a:xfrm>
          <a:prstGeom prst="roundRect">
            <a:avLst>
              <a:gd fmla="val 727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h3d19a9cfc7ef64c4_0_8"/>
          <p:cNvSpPr txBox="1"/>
          <p:nvPr/>
        </p:nvSpPr>
        <p:spPr>
          <a:xfrm>
            <a:off x="6446520" y="1078992"/>
            <a:ext cx="2103000" cy="5532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chemeClr val="accent1"/>
              </a:buClr>
              <a:buSzPts val="2600"/>
              <a:buFont typeface="Cambria"/>
              <a:buNone/>
            </a:pPr>
            <a:r>
              <a:rPr b="1" i="0" lang="en-US" sz="2600" u="none" cap="none" strike="noStrike">
                <a:solidFill>
                  <a:schemeClr val="accent1"/>
                </a:solidFill>
                <a:latin typeface="Cambria"/>
                <a:ea typeface="Cambria"/>
                <a:cs typeface="Cambria"/>
                <a:sym typeface="Cambria"/>
              </a:rPr>
              <a:t>+50.5%</a:t>
            </a:r>
            <a:endParaRPr b="0" i="0" sz="2600" u="none" cap="none" strike="noStrike">
              <a:solidFill>
                <a:schemeClr val="dk1"/>
              </a:solidFill>
              <a:latin typeface="Calibri"/>
              <a:ea typeface="Calibri"/>
              <a:cs typeface="Calibri"/>
              <a:sym typeface="Calibri"/>
            </a:endParaRPr>
          </a:p>
        </p:txBody>
      </p:sp>
      <p:sp>
        <p:nvSpPr>
          <p:cNvPr id="135" name="Google Shape;135;h3d19a9cfc7ef64c4_0_8"/>
          <p:cNvSpPr txBox="1"/>
          <p:nvPr/>
        </p:nvSpPr>
        <p:spPr>
          <a:xfrm>
            <a:off x="6446520" y="1609344"/>
            <a:ext cx="2103000" cy="382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Pacific Northwest: the largest gap over New England</a:t>
            </a:r>
            <a:endParaRPr b="0" i="0" sz="1200" u="none" cap="none" strike="noStrike">
              <a:solidFill>
                <a:schemeClr val="dk1"/>
              </a:solidFill>
              <a:latin typeface="Calibri"/>
              <a:ea typeface="Calibri"/>
              <a:cs typeface="Calibri"/>
              <a:sym typeface="Calibri"/>
            </a:endParaRPr>
          </a:p>
        </p:txBody>
      </p:sp>
      <p:sp>
        <p:nvSpPr>
          <p:cNvPr id="136" name="Google Shape;136;h3d19a9cfc7ef64c4_0_8"/>
          <p:cNvSpPr/>
          <p:nvPr/>
        </p:nvSpPr>
        <p:spPr>
          <a:xfrm>
            <a:off x="6309360" y="2148840"/>
            <a:ext cx="2377500" cy="1005900"/>
          </a:xfrm>
          <a:prstGeom prst="roundRect">
            <a:avLst>
              <a:gd fmla="val 727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h3d19a9cfc7ef64c4_0_8"/>
          <p:cNvSpPr txBox="1"/>
          <p:nvPr/>
        </p:nvSpPr>
        <p:spPr>
          <a:xfrm>
            <a:off x="6446520" y="2221992"/>
            <a:ext cx="2103000" cy="5532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chemeClr val="accent2"/>
              </a:buClr>
              <a:buSzPts val="2600"/>
              <a:buFont typeface="Cambria"/>
              <a:buNone/>
            </a:pPr>
            <a:r>
              <a:rPr b="1" i="0" lang="en-US" sz="2600" u="none" cap="none" strike="noStrike">
                <a:solidFill>
                  <a:schemeClr val="accent2"/>
                </a:solidFill>
                <a:latin typeface="Cambria"/>
                <a:ea typeface="Cambria"/>
                <a:cs typeface="Cambria"/>
                <a:sym typeface="Cambria"/>
              </a:rPr>
              <a:t>+9.5%</a:t>
            </a:r>
            <a:endParaRPr b="0" i="0" sz="2600" u="none" cap="none" strike="noStrike">
              <a:solidFill>
                <a:schemeClr val="dk1"/>
              </a:solidFill>
              <a:latin typeface="Calibri"/>
              <a:ea typeface="Calibri"/>
              <a:cs typeface="Calibri"/>
              <a:sym typeface="Calibri"/>
            </a:endParaRPr>
          </a:p>
        </p:txBody>
      </p:sp>
      <p:sp>
        <p:nvSpPr>
          <p:cNvPr id="138" name="Google Shape;138;h3d19a9cfc7ef64c4_0_8"/>
          <p:cNvSpPr txBox="1"/>
          <p:nvPr/>
        </p:nvSpPr>
        <p:spPr>
          <a:xfrm>
            <a:off x="6446520" y="2752344"/>
            <a:ext cx="2103000" cy="382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Mountains &amp; Plains: CI includes zero (p = 0.23)</a:t>
            </a:r>
            <a:endParaRPr b="0" i="0" sz="1200" u="none" cap="none" strike="noStrike">
              <a:solidFill>
                <a:schemeClr val="dk1"/>
              </a:solidFill>
              <a:latin typeface="Calibri"/>
              <a:ea typeface="Calibri"/>
              <a:cs typeface="Calibri"/>
              <a:sym typeface="Calibri"/>
            </a:endParaRPr>
          </a:p>
        </p:txBody>
      </p:sp>
      <p:sp>
        <p:nvSpPr>
          <p:cNvPr id="139" name="Google Shape;139;h3d19a9cfc7ef64c4_0_8"/>
          <p:cNvSpPr/>
          <p:nvPr/>
        </p:nvSpPr>
        <p:spPr>
          <a:xfrm>
            <a:off x="6309360" y="3291840"/>
            <a:ext cx="2377500" cy="1005900"/>
          </a:xfrm>
          <a:prstGeom prst="roundRect">
            <a:avLst>
              <a:gd fmla="val 727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h3d19a9cfc7ef64c4_0_8"/>
          <p:cNvSpPr txBox="1"/>
          <p:nvPr/>
        </p:nvSpPr>
        <p:spPr>
          <a:xfrm>
            <a:off x="6446520" y="3364992"/>
            <a:ext cx="2103000" cy="5532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chemeClr val="accent1"/>
              </a:buClr>
              <a:buSzPts val="2200"/>
              <a:buFont typeface="Cambria"/>
              <a:buNone/>
            </a:pPr>
            <a:r>
              <a:rPr b="1" i="0" lang="en-US" sz="2200" u="none" cap="none" strike="noStrike">
                <a:solidFill>
                  <a:schemeClr val="accent1"/>
                </a:solidFill>
                <a:latin typeface="Cambria"/>
                <a:ea typeface="Cambria"/>
                <a:cs typeface="Cambria"/>
                <a:sym typeface="Cambria"/>
              </a:rPr>
              <a:t>2.5 → 2.9%</a:t>
            </a:r>
            <a:endParaRPr b="0" i="0" sz="2200" u="none" cap="none" strike="noStrike">
              <a:solidFill>
                <a:schemeClr val="dk1"/>
              </a:solidFill>
              <a:latin typeface="Calibri"/>
              <a:ea typeface="Calibri"/>
              <a:cs typeface="Calibri"/>
              <a:sym typeface="Calibri"/>
            </a:endParaRPr>
          </a:p>
        </p:txBody>
      </p:sp>
      <p:sp>
        <p:nvSpPr>
          <p:cNvPr id="141" name="Google Shape;141;h3d19a9cfc7ef64c4_0_8"/>
          <p:cNvSpPr txBox="1"/>
          <p:nvPr/>
        </p:nvSpPr>
        <p:spPr>
          <a:xfrm>
            <a:off x="6446520" y="3895344"/>
            <a:ext cx="2103000" cy="382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race coefficient when region is added (R² 0.625 → 0.642)</a:t>
            </a:r>
            <a:endParaRPr b="0" i="0" sz="1200" u="none" cap="none" strike="noStrike">
              <a:solidFill>
                <a:schemeClr val="dk1"/>
              </a:solidFill>
              <a:latin typeface="Calibri"/>
              <a:ea typeface="Calibri"/>
              <a:cs typeface="Calibri"/>
              <a:sym typeface="Calibri"/>
            </a:endParaRPr>
          </a:p>
        </p:txBody>
      </p:sp>
      <p:sp>
        <p:nvSpPr>
          <p:cNvPr id="142" name="Google Shape;142;h3d19a9cfc7ef64c4_0_8"/>
          <p:cNvSpPr txBox="1"/>
          <p:nvPr>
            <p:ph idx="4294967295" type="sldNum"/>
          </p:nvPr>
        </p:nvSpPr>
        <p:spPr>
          <a:xfrm>
            <a:off x="8412480" y="4800600"/>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chemeClr val="accent4"/>
                </a:solidFill>
                <a:latin typeface="Calibri"/>
                <a:ea typeface="Calibri"/>
                <a:cs typeface="Calibri"/>
                <a:sym typeface="Calibri"/>
              </a:rPr>
              <a:t>‹#›</a:t>
            </a:fld>
            <a:endParaRPr b="0" i="0" sz="900" u="none" cap="none" strike="noStrike">
              <a:solidFill>
                <a:schemeClr val="accent4"/>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9"/>
          <p:cNvSpPr txBox="1"/>
          <p:nvPr>
            <p:ph type="title"/>
          </p:nvPr>
        </p:nvSpPr>
        <p:spPr>
          <a:xfrm>
            <a:off x="457200" y="228600"/>
            <a:ext cx="8229600" cy="685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2600"/>
              <a:buFont typeface="Cambria"/>
              <a:buNone/>
            </a:pPr>
            <a:r>
              <a:rPr b="1" lang="en-US" sz="2600">
                <a:solidFill>
                  <a:schemeClr val="dk1"/>
                </a:solidFill>
              </a:rPr>
              <a:t>The race gap is not the same in every region</a:t>
            </a:r>
            <a:endParaRPr sz="2600"/>
          </a:p>
        </p:txBody>
      </p:sp>
      <p:pic>
        <p:nvPicPr>
          <p:cNvPr descr="/home/claude/slides/fig/fig2_region_slopes.png" id="149" name="Google Shape;149;p9"/>
          <p:cNvPicPr preferRelativeResize="0"/>
          <p:nvPr/>
        </p:nvPicPr>
        <p:blipFill rotWithShape="1">
          <a:blip r:embed="rId3">
            <a:alphaModFix/>
          </a:blip>
          <a:srcRect b="0" l="0" r="0" t="0"/>
          <a:stretch/>
        </p:blipFill>
        <p:spPr>
          <a:xfrm>
            <a:off x="457200" y="1005840"/>
            <a:ext cx="5394960" cy="2992909"/>
          </a:xfrm>
          <a:prstGeom prst="rect">
            <a:avLst/>
          </a:prstGeom>
          <a:noFill/>
          <a:ln>
            <a:noFill/>
          </a:ln>
        </p:spPr>
      </p:pic>
      <p:sp>
        <p:nvSpPr>
          <p:cNvPr id="150" name="Google Shape;150;p9"/>
          <p:cNvSpPr txBox="1"/>
          <p:nvPr/>
        </p:nvSpPr>
        <p:spPr>
          <a:xfrm>
            <a:off x="457200" y="4069080"/>
            <a:ext cx="5394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000"/>
              <a:buFont typeface="Calibri"/>
              <a:buNone/>
            </a:pPr>
            <a:r>
              <a:rPr b="0" i="1" lang="en-US" sz="1000" u="none" cap="none" strike="noStrike">
                <a:solidFill>
                  <a:schemeClr val="dk2"/>
                </a:solidFill>
                <a:latin typeface="Calibri"/>
                <a:ea typeface="Calibri"/>
                <a:cs typeface="Calibri"/>
                <a:sym typeface="Calibri"/>
              </a:rPr>
              <a:t>Fit separately in each region, holding density and income constant. Bars: county-clustered 95% CIs. Dashed: national 2.9%.</a:t>
            </a:r>
            <a:endParaRPr b="0" i="0" sz="1000" u="none" cap="none" strike="noStrike">
              <a:solidFill>
                <a:schemeClr val="dk1"/>
              </a:solidFill>
              <a:latin typeface="Calibri"/>
              <a:ea typeface="Calibri"/>
              <a:cs typeface="Calibri"/>
              <a:sym typeface="Calibri"/>
            </a:endParaRPr>
          </a:p>
        </p:txBody>
      </p:sp>
      <p:sp>
        <p:nvSpPr>
          <p:cNvPr id="151" name="Google Shape;151;p9"/>
          <p:cNvSpPr/>
          <p:nvPr/>
        </p:nvSpPr>
        <p:spPr>
          <a:xfrm>
            <a:off x="6126480" y="1005840"/>
            <a:ext cx="2560320" cy="1005840"/>
          </a:xfrm>
          <a:prstGeom prst="roundRect">
            <a:avLst>
              <a:gd fmla="val 727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9"/>
          <p:cNvSpPr txBox="1"/>
          <p:nvPr/>
        </p:nvSpPr>
        <p:spPr>
          <a:xfrm>
            <a:off x="6263640" y="1078992"/>
            <a:ext cx="2286000" cy="553212"/>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chemeClr val="accent1"/>
              </a:buClr>
              <a:buSzPts val="2600"/>
              <a:buFont typeface="Cambria"/>
              <a:buNone/>
            </a:pPr>
            <a:r>
              <a:rPr b="1" i="0" lang="en-US" sz="2600" u="none" cap="none" strike="noStrike">
                <a:solidFill>
                  <a:schemeClr val="accent1"/>
                </a:solidFill>
                <a:latin typeface="Cambria"/>
                <a:ea typeface="Cambria"/>
                <a:cs typeface="Cambria"/>
                <a:sym typeface="Cambria"/>
              </a:rPr>
              <a:t>7 of 10</a:t>
            </a:r>
            <a:endParaRPr b="0" i="0" sz="2600" u="none" cap="none" strike="noStrike">
              <a:solidFill>
                <a:schemeClr val="dk1"/>
              </a:solidFill>
              <a:latin typeface="Calibri"/>
              <a:ea typeface="Calibri"/>
              <a:cs typeface="Calibri"/>
              <a:sym typeface="Calibri"/>
            </a:endParaRPr>
          </a:p>
        </p:txBody>
      </p:sp>
      <p:sp>
        <p:nvSpPr>
          <p:cNvPr id="153" name="Google Shape;153;p9"/>
          <p:cNvSpPr txBox="1"/>
          <p:nvPr/>
        </p:nvSpPr>
        <p:spPr>
          <a:xfrm>
            <a:off x="6263640" y="1609344"/>
            <a:ext cx="2286000" cy="38221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regions positive with an interval above zero</a:t>
            </a:r>
            <a:endParaRPr b="0" i="0" sz="1200" u="none" cap="none" strike="noStrike">
              <a:solidFill>
                <a:schemeClr val="dk1"/>
              </a:solidFill>
              <a:latin typeface="Calibri"/>
              <a:ea typeface="Calibri"/>
              <a:cs typeface="Calibri"/>
              <a:sym typeface="Calibri"/>
            </a:endParaRPr>
          </a:p>
        </p:txBody>
      </p:sp>
      <p:sp>
        <p:nvSpPr>
          <p:cNvPr id="154" name="Google Shape;154;p9"/>
          <p:cNvSpPr/>
          <p:nvPr/>
        </p:nvSpPr>
        <p:spPr>
          <a:xfrm>
            <a:off x="6126480" y="2148840"/>
            <a:ext cx="2560320" cy="1005840"/>
          </a:xfrm>
          <a:prstGeom prst="roundRect">
            <a:avLst>
              <a:gd fmla="val 727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9"/>
          <p:cNvSpPr txBox="1"/>
          <p:nvPr/>
        </p:nvSpPr>
        <p:spPr>
          <a:xfrm>
            <a:off x="6263640" y="2221992"/>
            <a:ext cx="2286000" cy="553212"/>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chemeClr val="accent1"/>
              </a:buClr>
              <a:buSzPts val="2600"/>
              <a:buFont typeface="Cambria"/>
              <a:buNone/>
            </a:pPr>
            <a:r>
              <a:rPr b="1" i="0" lang="en-US" sz="2600" u="none" cap="none" strike="noStrike">
                <a:solidFill>
                  <a:schemeClr val="accent1"/>
                </a:solidFill>
                <a:latin typeface="Cambria"/>
                <a:ea typeface="Cambria"/>
                <a:cs typeface="Cambria"/>
                <a:sym typeface="Cambria"/>
              </a:rPr>
              <a:t>~9%</a:t>
            </a:r>
            <a:endParaRPr b="0" i="0" sz="2600" u="none" cap="none" strike="noStrike">
              <a:solidFill>
                <a:schemeClr val="dk1"/>
              </a:solidFill>
              <a:latin typeface="Calibri"/>
              <a:ea typeface="Calibri"/>
              <a:cs typeface="Calibri"/>
              <a:sym typeface="Calibri"/>
            </a:endParaRPr>
          </a:p>
        </p:txBody>
      </p:sp>
      <p:sp>
        <p:nvSpPr>
          <p:cNvPr id="156" name="Google Shape;156;p9"/>
          <p:cNvSpPr txBox="1"/>
          <p:nvPr/>
        </p:nvSpPr>
        <p:spPr>
          <a:xfrm>
            <a:off x="6263640" y="2752344"/>
            <a:ext cx="2286000" cy="38221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Mountains &amp; Plains and Pacific NW: about 3× national</a:t>
            </a:r>
            <a:endParaRPr b="0" i="0" sz="1200" u="none" cap="none" strike="noStrike">
              <a:solidFill>
                <a:schemeClr val="dk1"/>
              </a:solidFill>
              <a:latin typeface="Calibri"/>
              <a:ea typeface="Calibri"/>
              <a:cs typeface="Calibri"/>
              <a:sym typeface="Calibri"/>
            </a:endParaRPr>
          </a:p>
        </p:txBody>
      </p:sp>
      <p:sp>
        <p:nvSpPr>
          <p:cNvPr id="157" name="Google Shape;157;p9"/>
          <p:cNvSpPr/>
          <p:nvPr/>
        </p:nvSpPr>
        <p:spPr>
          <a:xfrm>
            <a:off x="6126480" y="3291840"/>
            <a:ext cx="2560320" cy="1005840"/>
          </a:xfrm>
          <a:prstGeom prst="roundRect">
            <a:avLst>
              <a:gd fmla="val 727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9"/>
          <p:cNvSpPr txBox="1"/>
          <p:nvPr/>
        </p:nvSpPr>
        <p:spPr>
          <a:xfrm>
            <a:off x="6263640" y="3364992"/>
            <a:ext cx="2286000" cy="553212"/>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chemeClr val="accent2"/>
              </a:buClr>
              <a:buSzPts val="2600"/>
              <a:buFont typeface="Cambria"/>
              <a:buNone/>
            </a:pPr>
            <a:r>
              <a:rPr b="1" i="0" lang="en-US" sz="2600" u="none" cap="none" strike="noStrike">
                <a:solidFill>
                  <a:schemeClr val="accent2"/>
                </a:solidFill>
                <a:latin typeface="Cambria"/>
                <a:ea typeface="Cambria"/>
                <a:cs typeface="Cambria"/>
                <a:sym typeface="Cambria"/>
              </a:rPr>
              <a:t>≈ 0%</a:t>
            </a:r>
            <a:endParaRPr b="0" i="0" sz="2600" u="none" cap="none" strike="noStrike">
              <a:solidFill>
                <a:schemeClr val="dk1"/>
              </a:solidFill>
              <a:latin typeface="Calibri"/>
              <a:ea typeface="Calibri"/>
              <a:cs typeface="Calibri"/>
              <a:sym typeface="Calibri"/>
            </a:endParaRPr>
          </a:p>
        </p:txBody>
      </p:sp>
      <p:sp>
        <p:nvSpPr>
          <p:cNvPr id="159" name="Google Shape;159;p9"/>
          <p:cNvSpPr txBox="1"/>
          <p:nvPr/>
        </p:nvSpPr>
        <p:spPr>
          <a:xfrm>
            <a:off x="6263640" y="3895344"/>
            <a:ext cx="2286000" cy="38221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200"/>
              <a:buFont typeface="Calibri"/>
              <a:buNone/>
            </a:pPr>
            <a:r>
              <a:rPr b="0" i="0" lang="en-US" sz="1200" u="none" cap="none" strike="noStrike">
                <a:solidFill>
                  <a:schemeClr val="dk2"/>
                </a:solidFill>
                <a:latin typeface="Calibri"/>
                <a:ea typeface="Calibri"/>
                <a:cs typeface="Calibri"/>
                <a:sym typeface="Calibri"/>
              </a:rPr>
              <a:t>NY/NJ/PR and South Central</a:t>
            </a:r>
            <a:endParaRPr b="0" i="0" sz="1200" u="none" cap="none" strike="noStrike">
              <a:solidFill>
                <a:schemeClr val="dk1"/>
              </a:solidFill>
              <a:latin typeface="Calibri"/>
              <a:ea typeface="Calibri"/>
              <a:cs typeface="Calibri"/>
              <a:sym typeface="Calibri"/>
            </a:endParaRPr>
          </a:p>
        </p:txBody>
      </p:sp>
      <p:sp>
        <p:nvSpPr>
          <p:cNvPr id="160" name="Google Shape;160;p9"/>
          <p:cNvSpPr txBox="1"/>
          <p:nvPr>
            <p:ph idx="4294967295" type="sldNum"/>
          </p:nvPr>
        </p:nvSpPr>
        <p:spPr>
          <a:xfrm>
            <a:off x="8412480" y="4800600"/>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chemeClr val="accent4"/>
                </a:solidFill>
                <a:latin typeface="Calibri"/>
                <a:ea typeface="Calibri"/>
                <a:cs typeface="Calibri"/>
                <a:sym typeface="Calibri"/>
              </a:rPr>
              <a:t>‹#›</a:t>
            </a:fld>
            <a:endParaRPr b="0" i="0" sz="900" u="none" cap="none" strike="noStrike">
              <a:solidFill>
                <a:schemeClr val="accent4"/>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1"/>
          <p:cNvSpPr txBox="1"/>
          <p:nvPr>
            <p:ph type="title"/>
          </p:nvPr>
        </p:nvSpPr>
        <p:spPr>
          <a:xfrm>
            <a:off x="457200" y="228600"/>
            <a:ext cx="8229600" cy="685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2600"/>
              <a:buFont typeface="Cambria"/>
              <a:buNone/>
            </a:pPr>
            <a:r>
              <a:rPr b="1" lang="en-US" sz="2600">
                <a:solidFill>
                  <a:schemeClr val="dk1"/>
                </a:solidFill>
              </a:rPr>
              <a:t>The final geographic model against the data</a:t>
            </a:r>
            <a:endParaRPr sz="2600"/>
          </a:p>
        </p:txBody>
      </p:sp>
      <p:sp>
        <p:nvSpPr>
          <p:cNvPr id="167" name="Google Shape;167;p11"/>
          <p:cNvSpPr txBox="1"/>
          <p:nvPr/>
        </p:nvSpPr>
        <p:spPr>
          <a:xfrm>
            <a:off x="7196025" y="1051550"/>
            <a:ext cx="1490700" cy="3383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Red line: </a:t>
            </a:r>
            <a:r>
              <a:rPr b="0" i="0" lang="en-US" sz="1400" u="none" cap="none" strike="noStrike">
                <a:solidFill>
                  <a:schemeClr val="dk1"/>
                </a:solidFill>
                <a:latin typeface="Calibri"/>
                <a:ea typeface="Calibri"/>
                <a:cs typeface="Calibri"/>
                <a:sym typeface="Calibri"/>
              </a:rPr>
              <a:t>m5's prediction in each region at average density and income</a:t>
            </a:r>
            <a:endParaRPr b="0" i="0" sz="14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Slope: </a:t>
            </a:r>
            <a:r>
              <a:rPr b="0" i="0" lang="en-US" sz="1400" u="none" cap="none" strike="noStrike">
                <a:solidFill>
                  <a:schemeClr val="dk1"/>
                </a:solidFill>
                <a:latin typeface="Calibri"/>
                <a:ea typeface="Calibri"/>
                <a:cs typeface="Calibri"/>
                <a:sym typeface="Calibri"/>
              </a:rPr>
              <a:t>the region's race gap (panel title)</a:t>
            </a:r>
            <a:endParaRPr b="0" i="0" sz="14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Height: </a:t>
            </a:r>
            <a:r>
              <a:rPr b="0" i="0" lang="en-US" sz="1400" u="none" cap="none" strike="noStrike">
                <a:solidFill>
                  <a:schemeClr val="dk1"/>
                </a:solidFill>
                <a:latin typeface="Calibri"/>
                <a:ea typeface="Calibri"/>
                <a:cs typeface="Calibri"/>
                <a:sym typeface="Calibri"/>
              </a:rPr>
              <a:t>the region's overall diesel level</a:t>
            </a:r>
            <a:endParaRPr b="0" i="0" sz="14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Spread: </a:t>
            </a:r>
            <a:r>
              <a:rPr b="0" i="0" lang="en-US" sz="1400" u="none" cap="none" strike="noStrike">
                <a:solidFill>
                  <a:schemeClr val="dk1"/>
                </a:solidFill>
                <a:latin typeface="Calibri"/>
                <a:ea typeface="Calibri"/>
                <a:cs typeface="Calibri"/>
                <a:sym typeface="Calibri"/>
              </a:rPr>
              <a:t>what the model doesn't explain</a:t>
            </a:r>
            <a:endParaRPr b="0" i="0" sz="1400" u="none" cap="none" strike="noStrike">
              <a:solidFill>
                <a:schemeClr val="dk1"/>
              </a:solidFill>
              <a:latin typeface="Calibri"/>
              <a:ea typeface="Calibri"/>
              <a:cs typeface="Calibri"/>
              <a:sym typeface="Calibri"/>
            </a:endParaRPr>
          </a:p>
        </p:txBody>
      </p:sp>
      <p:sp>
        <p:nvSpPr>
          <p:cNvPr id="168" name="Google Shape;168;p11"/>
          <p:cNvSpPr txBox="1"/>
          <p:nvPr>
            <p:ph idx="4294967295" type="sldNum"/>
          </p:nvPr>
        </p:nvSpPr>
        <p:spPr>
          <a:xfrm>
            <a:off x="8412480" y="4800600"/>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chemeClr val="accent4"/>
                </a:solidFill>
                <a:latin typeface="Calibri"/>
                <a:ea typeface="Calibri"/>
                <a:cs typeface="Calibri"/>
                <a:sym typeface="Calibri"/>
              </a:rPr>
              <a:t>‹#›</a:t>
            </a:fld>
            <a:endParaRPr b="0" i="0" sz="900" u="none" cap="none" strike="noStrike">
              <a:solidFill>
                <a:schemeClr val="accent4"/>
              </a:solidFill>
              <a:latin typeface="Calibri"/>
              <a:ea typeface="Calibri"/>
              <a:cs typeface="Calibri"/>
              <a:sym typeface="Calibri"/>
            </a:endParaRPr>
          </a:p>
        </p:txBody>
      </p:sp>
      <p:pic>
        <p:nvPicPr>
          <p:cNvPr id="169" name="Google Shape;169;p11" title="Screenshot 2026-10-17 at 12.51.06.png"/>
          <p:cNvPicPr preferRelativeResize="0"/>
          <p:nvPr/>
        </p:nvPicPr>
        <p:blipFill>
          <a:blip r:embed="rId3">
            <a:alphaModFix/>
          </a:blip>
          <a:stretch>
            <a:fillRect/>
          </a:stretch>
        </p:blipFill>
        <p:spPr>
          <a:xfrm>
            <a:off x="152400" y="1066800"/>
            <a:ext cx="6839572" cy="34231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2"/>
          <p:cNvSpPr txBox="1"/>
          <p:nvPr>
            <p:ph type="title"/>
          </p:nvPr>
        </p:nvSpPr>
        <p:spPr>
          <a:xfrm>
            <a:off x="457200" y="228600"/>
            <a:ext cx="8229600" cy="685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2600"/>
              <a:buFont typeface="Cambria"/>
              <a:buNone/>
            </a:pPr>
            <a:r>
              <a:rPr b="1" lang="en-US" sz="2600">
                <a:solidFill>
                  <a:schemeClr val="dk1"/>
                </a:solidFill>
              </a:rPr>
              <a:t>Assumption checks: a linear model is reasonable (m4)</a:t>
            </a:r>
            <a:endParaRPr sz="2600"/>
          </a:p>
        </p:txBody>
      </p:sp>
      <p:pic>
        <p:nvPicPr>
          <p:cNvPr descr="/home/claude/slides/fig/fig3_diagnostics.png" id="176" name="Google Shape;176;p12"/>
          <p:cNvPicPr preferRelativeResize="0"/>
          <p:nvPr/>
        </p:nvPicPr>
        <p:blipFill rotWithShape="1">
          <a:blip r:embed="rId3">
            <a:alphaModFix/>
          </a:blip>
          <a:srcRect b="0" l="0" r="0" t="0"/>
          <a:stretch/>
        </p:blipFill>
        <p:spPr>
          <a:xfrm>
            <a:off x="457200" y="960120"/>
            <a:ext cx="4343400" cy="3563342"/>
          </a:xfrm>
          <a:prstGeom prst="rect">
            <a:avLst/>
          </a:prstGeom>
          <a:noFill/>
          <a:ln>
            <a:noFill/>
          </a:ln>
        </p:spPr>
      </p:pic>
      <p:sp>
        <p:nvSpPr>
          <p:cNvPr id="177" name="Google Shape;177;p12"/>
          <p:cNvSpPr txBox="1"/>
          <p:nvPr/>
        </p:nvSpPr>
        <p:spPr>
          <a:xfrm>
            <a:off x="5120640" y="1051560"/>
            <a:ext cx="3566160" cy="3474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Linearity: </a:t>
            </a:r>
            <a:r>
              <a:rPr b="0" i="0" lang="en-US" sz="1400" u="none" cap="none" strike="noStrike">
                <a:solidFill>
                  <a:schemeClr val="dk1"/>
                </a:solidFill>
                <a:latin typeface="Calibri"/>
                <a:ea typeface="Calibri"/>
                <a:cs typeface="Calibri"/>
                <a:sym typeface="Calibri"/>
              </a:rPr>
              <a:t>red line mostly flat</a:t>
            </a:r>
            <a:endParaRPr b="0" i="0" sz="14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Constant variance: </a:t>
            </a:r>
            <a:r>
              <a:rPr b="0" i="0" lang="en-US" sz="1400" u="none" cap="none" strike="noStrike">
                <a:solidFill>
                  <a:schemeClr val="dk1"/>
                </a:solidFill>
                <a:latin typeface="Calibri"/>
                <a:ea typeface="Calibri"/>
                <a:cs typeface="Calibri"/>
                <a:sym typeface="Calibri"/>
              </a:rPr>
              <a:t>slightly wider spread at the highest predictions</a:t>
            </a:r>
            <a:endParaRPr b="0" i="0" sz="14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Normality: </a:t>
            </a:r>
            <a:r>
              <a:rPr b="0" i="0" lang="en-US" sz="1400" u="none" cap="none" strike="noStrike">
                <a:solidFill>
                  <a:schemeClr val="dk1"/>
                </a:solidFill>
                <a:latin typeface="Calibri"/>
                <a:ea typeface="Calibri"/>
                <a:cs typeface="Calibri"/>
                <a:sym typeface="Calibri"/>
              </a:rPr>
              <a:t>heavy tails, little effect with 84,222 tracts</a:t>
            </a:r>
            <a:endParaRPr b="0" i="0" sz="14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Influence: </a:t>
            </a:r>
            <a:r>
              <a:rPr b="0" i="0" lang="en-US" sz="1400" u="none" cap="none" strike="noStrike">
                <a:solidFill>
                  <a:schemeClr val="dk1"/>
                </a:solidFill>
                <a:latin typeface="Calibri"/>
                <a:ea typeface="Calibri"/>
                <a:cs typeface="Calibri"/>
                <a:sym typeface="Calibri"/>
              </a:rPr>
              <a:t>no tract near Cook's distance</a:t>
            </a:r>
            <a:endParaRPr b="0" i="0" sz="14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Independence: </a:t>
            </a:r>
            <a:r>
              <a:rPr b="0" i="0" lang="en-US" sz="1400" u="none" cap="none" strike="noStrike">
                <a:solidFill>
                  <a:schemeClr val="dk1"/>
                </a:solidFill>
                <a:latin typeface="Calibri"/>
                <a:ea typeface="Calibri"/>
                <a:cs typeface="Calibri"/>
                <a:sym typeface="Calibri"/>
              </a:rPr>
              <a:t>fails; neighbouring tracts share roads and air-model inputs</a:t>
            </a:r>
            <a:endParaRPr b="0" i="0" sz="1400" u="none" cap="none" strike="noStrike">
              <a:solidFill>
                <a:schemeClr val="dk1"/>
              </a:solidFill>
              <a:latin typeface="Calibri"/>
              <a:ea typeface="Calibri"/>
              <a:cs typeface="Calibri"/>
              <a:sym typeface="Calibri"/>
            </a:endParaRPr>
          </a:p>
        </p:txBody>
      </p:sp>
      <p:sp>
        <p:nvSpPr>
          <p:cNvPr id="178" name="Google Shape;178;p12"/>
          <p:cNvSpPr txBox="1"/>
          <p:nvPr>
            <p:ph idx="4294967295" type="sldNum"/>
          </p:nvPr>
        </p:nvSpPr>
        <p:spPr>
          <a:xfrm>
            <a:off x="8412480" y="4800600"/>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chemeClr val="accent4"/>
                </a:solidFill>
                <a:latin typeface="Calibri"/>
                <a:ea typeface="Calibri"/>
                <a:cs typeface="Calibri"/>
                <a:sym typeface="Calibri"/>
              </a:rPr>
              <a:t>‹#›</a:t>
            </a:fld>
            <a:endParaRPr b="0" i="0" sz="900" u="none" cap="none" strike="noStrike">
              <a:solidFill>
                <a:schemeClr val="accent4"/>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h7b81e594c78a31d6_0_7"/>
          <p:cNvSpPr txBox="1"/>
          <p:nvPr>
            <p:ph idx="1" type="body"/>
          </p:nvPr>
        </p:nvSpPr>
        <p:spPr>
          <a:xfrm>
            <a:off x="548700" y="978598"/>
            <a:ext cx="8046600" cy="31863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sz="1500"/>
              <a:t>RQ1: How strongly is traffic proximity associated with modeled diesel PM?</a:t>
            </a:r>
            <a:endParaRPr sz="1500"/>
          </a:p>
          <a:p>
            <a:pPr indent="0" lvl="0" marL="0" rtl="0" algn="l">
              <a:lnSpc>
                <a:spcPct val="115000"/>
              </a:lnSpc>
              <a:spcBef>
                <a:spcPts val="1200"/>
              </a:spcBef>
              <a:spcAft>
                <a:spcPts val="0"/>
              </a:spcAft>
              <a:buNone/>
            </a:pPr>
            <a:r>
              <a:rPr lang="en-US" sz="1500"/>
              <a:t>RQ2: Does accounting for traffic proximity change the association between residents of color and diesel PM?</a:t>
            </a:r>
            <a:endParaRPr sz="1500"/>
          </a:p>
          <a:p>
            <a:pPr indent="0" lvl="0" marL="0" rtl="0" algn="l">
              <a:lnSpc>
                <a:spcPct val="115000"/>
              </a:lnSpc>
              <a:spcBef>
                <a:spcPts val="1200"/>
              </a:spcBef>
              <a:spcAft>
                <a:spcPts val="0"/>
              </a:spcAft>
              <a:buNone/>
            </a:pPr>
            <a:r>
              <a:rPr lang="en-US" sz="1500"/>
              <a:t>Background</a:t>
            </a:r>
            <a:endParaRPr sz="1500"/>
          </a:p>
          <a:p>
            <a:pPr indent="-292100" lvl="0" marL="457200" rtl="0" algn="l">
              <a:lnSpc>
                <a:spcPct val="115000"/>
              </a:lnSpc>
              <a:spcBef>
                <a:spcPts val="1200"/>
              </a:spcBef>
              <a:spcAft>
                <a:spcPts val="0"/>
              </a:spcAft>
              <a:buClr>
                <a:srgbClr val="000000"/>
              </a:buClr>
              <a:buSzPts val="1000"/>
              <a:buChar char="●"/>
            </a:pPr>
            <a:r>
              <a:rPr lang="en-US" sz="1500"/>
              <a:t>Traffic-related pollution can contribute to unequal environmental exposure.</a:t>
            </a:r>
            <a:endParaRPr sz="1500"/>
          </a:p>
          <a:p>
            <a:pPr indent="-292100" lvl="0" marL="457200" rtl="0" algn="l">
              <a:lnSpc>
                <a:spcPct val="115000"/>
              </a:lnSpc>
              <a:spcBef>
                <a:spcPts val="0"/>
              </a:spcBef>
              <a:spcAft>
                <a:spcPts val="0"/>
              </a:spcAft>
              <a:buClr>
                <a:srgbClr val="000000"/>
              </a:buClr>
              <a:buSzPts val="1000"/>
              <a:buChar char="●"/>
            </a:pPr>
            <a:r>
              <a:rPr lang="en-US" sz="1500"/>
              <a:t>Neighborhood demographics may be associated with differences in traffic proximity and diesel PM.</a:t>
            </a:r>
            <a:endParaRPr sz="1500"/>
          </a:p>
          <a:p>
            <a:pPr indent="0" lvl="0" marL="0" rtl="0" algn="l">
              <a:lnSpc>
                <a:spcPct val="115000"/>
              </a:lnSpc>
              <a:spcBef>
                <a:spcPts val="1200"/>
              </a:spcBef>
              <a:spcAft>
                <a:spcPts val="0"/>
              </a:spcAft>
              <a:buNone/>
            </a:pPr>
            <a:r>
              <a:rPr lang="en-US" sz="1500"/>
              <a:t>Data &amp; Methods</a:t>
            </a:r>
            <a:endParaRPr sz="1500"/>
          </a:p>
          <a:p>
            <a:pPr indent="-292100" lvl="0" marL="457200" rtl="0" algn="l">
              <a:lnSpc>
                <a:spcPct val="115000"/>
              </a:lnSpc>
              <a:spcBef>
                <a:spcPts val="1200"/>
              </a:spcBef>
              <a:spcAft>
                <a:spcPts val="0"/>
              </a:spcAft>
              <a:buClr>
                <a:srgbClr val="000000"/>
              </a:buClr>
              <a:buSzPts val="1000"/>
              <a:buChar char="●"/>
            </a:pPr>
            <a:r>
              <a:rPr lang="en-US" sz="1500"/>
              <a:t>Data: EPA EJScreen 2024 | 84,222 census tracts</a:t>
            </a:r>
            <a:endParaRPr sz="1500"/>
          </a:p>
          <a:p>
            <a:pPr indent="-292100" lvl="0" marL="457200" rtl="0" algn="l">
              <a:lnSpc>
                <a:spcPct val="115000"/>
              </a:lnSpc>
              <a:spcBef>
                <a:spcPts val="0"/>
              </a:spcBef>
              <a:spcAft>
                <a:spcPts val="0"/>
              </a:spcAft>
              <a:buClr>
                <a:srgbClr val="000000"/>
              </a:buClr>
              <a:buSzPts val="1000"/>
              <a:buChar char="●"/>
            </a:pPr>
            <a:r>
              <a:rPr lang="en-US" sz="1500"/>
              <a:t>Methods: Linear regression, adjusted model comparison, and decile analysis</a:t>
            </a:r>
            <a:endParaRPr sz="1500"/>
          </a:p>
          <a:p>
            <a:pPr indent="-292100" lvl="0" marL="457200" rtl="0" algn="l">
              <a:lnSpc>
                <a:spcPct val="115000"/>
              </a:lnSpc>
              <a:spcBef>
                <a:spcPts val="0"/>
              </a:spcBef>
              <a:spcAft>
                <a:spcPts val="0"/>
              </a:spcAft>
              <a:buClr>
                <a:srgbClr val="000000"/>
              </a:buClr>
              <a:buSzPts val="1000"/>
              <a:buChar char="●"/>
            </a:pPr>
            <a:r>
              <a:rPr lang="en-US" sz="1500"/>
              <a:t>Focus: Traffic proximity, diesel PM, and demographic disparities</a:t>
            </a:r>
            <a:endParaRPr sz="1500"/>
          </a:p>
          <a:p>
            <a:pPr indent="0" lvl="0" marL="0" rtl="0" algn="l">
              <a:lnSpc>
                <a:spcPct val="115000"/>
              </a:lnSpc>
              <a:spcBef>
                <a:spcPts val="1200"/>
              </a:spcBef>
              <a:spcAft>
                <a:spcPts val="1200"/>
              </a:spcAft>
              <a:buNone/>
            </a:pPr>
            <a:r>
              <a:t/>
            </a:r>
            <a:endParaRPr sz="1500"/>
          </a:p>
        </p:txBody>
      </p:sp>
      <p:sp>
        <p:nvSpPr>
          <p:cNvPr id="185" name="Google Shape;185;h7b81e594c78a31d6_0_7"/>
          <p:cNvSpPr txBox="1"/>
          <p:nvPr/>
        </p:nvSpPr>
        <p:spPr>
          <a:xfrm>
            <a:off x="402600" y="333175"/>
            <a:ext cx="7871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lt1"/>
                </a:solidFill>
              </a:rPr>
              <a:t>Traffic Proximity and Diesel PM Exposure</a:t>
            </a:r>
            <a:r>
              <a:rPr lang="en-US" sz="2400"/>
              <a:t> </a:t>
            </a:r>
            <a:endParaRPr sz="2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h35dd68f70b94a580_0_6"/>
          <p:cNvSpPr txBox="1"/>
          <p:nvPr>
            <p:ph type="title"/>
          </p:nvPr>
        </p:nvSpPr>
        <p:spPr>
          <a:xfrm>
            <a:off x="457200" y="228600"/>
            <a:ext cx="8229600" cy="6858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en-US"/>
              <a:t>Traffic Proximity and Diesel PM </a:t>
            </a:r>
            <a:endParaRPr/>
          </a:p>
        </p:txBody>
      </p:sp>
      <p:sp>
        <p:nvSpPr>
          <p:cNvPr id="192" name="Google Shape;192;h35dd68f70b94a580_0_6"/>
          <p:cNvSpPr txBox="1"/>
          <p:nvPr/>
        </p:nvSpPr>
        <p:spPr>
          <a:xfrm>
            <a:off x="4497975" y="826025"/>
            <a:ext cx="4380000" cy="423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a:t>Key Findings</a:t>
            </a:r>
            <a:endParaRPr/>
          </a:p>
          <a:p>
            <a:pPr indent="-298450" lvl="0" marL="457200" rtl="0" algn="l">
              <a:lnSpc>
                <a:spcPct val="115000"/>
              </a:lnSpc>
              <a:spcBef>
                <a:spcPts val="1200"/>
              </a:spcBef>
              <a:spcAft>
                <a:spcPts val="0"/>
              </a:spcAft>
              <a:buSzPts val="1100"/>
              <a:buChar char="●"/>
            </a:pPr>
            <a:r>
              <a:rPr lang="en-US"/>
              <a:t>Traffic proximity coefficient: β = 0.0422 (95% CI: 0.0418–0.0426).</a:t>
            </a:r>
            <a:endParaRPr/>
          </a:p>
          <a:p>
            <a:pPr indent="-298450" lvl="0" marL="457200" rtl="0" algn="l">
              <a:lnSpc>
                <a:spcPct val="115000"/>
              </a:lnSpc>
              <a:spcBef>
                <a:spcPts val="0"/>
              </a:spcBef>
              <a:spcAft>
                <a:spcPts val="0"/>
              </a:spcAft>
              <a:buSzPts val="1100"/>
              <a:buChar char="●"/>
            </a:pPr>
            <a:r>
              <a:rPr lang="en-US"/>
              <a:t>A one-unit increase in log-transformed traffic proximity is associated with 0.0422 µg/m³ higher modeled diesel PM.</a:t>
            </a:r>
            <a:endParaRPr/>
          </a:p>
          <a:p>
            <a:pPr indent="-298450" lvl="0" marL="457200" rtl="0" algn="l">
              <a:lnSpc>
                <a:spcPct val="115000"/>
              </a:lnSpc>
              <a:spcBef>
                <a:spcPts val="0"/>
              </a:spcBef>
              <a:spcAft>
                <a:spcPts val="0"/>
              </a:spcAft>
              <a:buSzPts val="1100"/>
              <a:buChar char="●"/>
            </a:pPr>
            <a:r>
              <a:rPr lang="en-US"/>
              <a:t>Traffic proximity alone explains 39.2% of the variation in diesel PM (R² = 0.392).</a:t>
            </a:r>
            <a:endParaRPr/>
          </a:p>
          <a:p>
            <a:pPr indent="0" lvl="0" marL="0" rtl="0" algn="l">
              <a:lnSpc>
                <a:spcPct val="115000"/>
              </a:lnSpc>
              <a:spcBef>
                <a:spcPts val="1200"/>
              </a:spcBef>
              <a:spcAft>
                <a:spcPts val="0"/>
              </a:spcAft>
              <a:buNone/>
            </a:pPr>
            <a:r>
              <a:rPr lang="en-US"/>
              <a:t>Interpretation</a:t>
            </a:r>
            <a:endParaRPr/>
          </a:p>
          <a:p>
            <a:pPr indent="0" lvl="0" marL="0" rtl="0" algn="l">
              <a:lnSpc>
                <a:spcPct val="115000"/>
              </a:lnSpc>
              <a:spcBef>
                <a:spcPts val="1200"/>
              </a:spcBef>
              <a:spcAft>
                <a:spcPts val="0"/>
              </a:spcAft>
              <a:buNone/>
            </a:pPr>
            <a:r>
              <a:rPr lang="en-US"/>
              <a:t>Neighborhoods with higher traffic proximity generally have higher modeled diesel PM concentrations, although traffic alone does not explain all the variation.</a:t>
            </a:r>
            <a:endParaRPr/>
          </a:p>
          <a:p>
            <a:pPr indent="0" lvl="0" marL="0" rtl="0" algn="l">
              <a:lnSpc>
                <a:spcPct val="115000"/>
              </a:lnSpc>
              <a:spcBef>
                <a:spcPts val="1200"/>
              </a:spcBef>
              <a:spcAft>
                <a:spcPts val="1200"/>
              </a:spcAft>
              <a:buNone/>
            </a:pPr>
            <a:r>
              <a:t/>
            </a:r>
            <a:endParaRPr/>
          </a:p>
        </p:txBody>
      </p:sp>
      <p:pic>
        <p:nvPicPr>
          <p:cNvPr id="193" name="Google Shape;193;h35dd68f70b94a580_0_6"/>
          <p:cNvPicPr preferRelativeResize="0"/>
          <p:nvPr/>
        </p:nvPicPr>
        <p:blipFill>
          <a:blip r:embed="rId3">
            <a:alphaModFix/>
          </a:blip>
          <a:stretch>
            <a:fillRect/>
          </a:stretch>
        </p:blipFill>
        <p:spPr>
          <a:xfrm>
            <a:off x="152400" y="1066800"/>
            <a:ext cx="4193172" cy="35075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h1852e817adb9f70_0_11"/>
          <p:cNvSpPr txBox="1"/>
          <p:nvPr>
            <p:ph type="title"/>
          </p:nvPr>
        </p:nvSpPr>
        <p:spPr>
          <a:xfrm>
            <a:off x="457200" y="228600"/>
            <a:ext cx="8229600" cy="6858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en-US"/>
              <a:t>Does Traffic Change the Demographic Association? </a:t>
            </a:r>
            <a:endParaRPr/>
          </a:p>
        </p:txBody>
      </p:sp>
      <p:pic>
        <p:nvPicPr>
          <p:cNvPr id="200" name="Google Shape;200;h1852e817adb9f70_0_11"/>
          <p:cNvPicPr preferRelativeResize="0"/>
          <p:nvPr/>
        </p:nvPicPr>
        <p:blipFill>
          <a:blip r:embed="rId3">
            <a:alphaModFix/>
          </a:blip>
          <a:stretch>
            <a:fillRect/>
          </a:stretch>
        </p:blipFill>
        <p:spPr>
          <a:xfrm>
            <a:off x="152400" y="1066800"/>
            <a:ext cx="4366700" cy="3840701"/>
          </a:xfrm>
          <a:prstGeom prst="rect">
            <a:avLst/>
          </a:prstGeom>
          <a:noFill/>
          <a:ln>
            <a:noFill/>
          </a:ln>
        </p:spPr>
      </p:pic>
      <p:sp>
        <p:nvSpPr>
          <p:cNvPr id="201" name="Google Shape;201;h1852e817adb9f70_0_11"/>
          <p:cNvSpPr txBox="1"/>
          <p:nvPr/>
        </p:nvSpPr>
        <p:spPr>
          <a:xfrm>
            <a:off x="5043275" y="1051500"/>
            <a:ext cx="3959700" cy="30405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0"/>
              </a:spcAft>
              <a:buNone/>
            </a:pPr>
            <a:r>
              <a:rPr lang="en-US"/>
              <a:t>Key Findings</a:t>
            </a:r>
            <a:endParaRPr/>
          </a:p>
          <a:p>
            <a:pPr indent="-298450" lvl="0" marL="457200" rtl="0" algn="l">
              <a:lnSpc>
                <a:spcPct val="115000"/>
              </a:lnSpc>
              <a:spcBef>
                <a:spcPts val="1200"/>
              </a:spcBef>
              <a:spcAft>
                <a:spcPts val="0"/>
              </a:spcAft>
              <a:buSzPts val="1100"/>
              <a:buChar char="●"/>
            </a:pPr>
            <a:r>
              <a:rPr lang="en-US"/>
              <a:t>The demographic coefficient decreases by approximately 44% after adding traffic.</a:t>
            </a:r>
            <a:endParaRPr/>
          </a:p>
          <a:p>
            <a:pPr indent="-298450" lvl="0" marL="457200" rtl="0" algn="l">
              <a:lnSpc>
                <a:spcPct val="115000"/>
              </a:lnSpc>
              <a:spcBef>
                <a:spcPts val="0"/>
              </a:spcBef>
              <a:spcAft>
                <a:spcPts val="0"/>
              </a:spcAft>
              <a:buSzPts val="1100"/>
              <a:buChar char="●"/>
            </a:pPr>
            <a:r>
              <a:rPr lang="en-US"/>
              <a:t>Adjusted traffic coefficient: β = 0.0543 (95% CI: 0.0533–0.0553).</a:t>
            </a:r>
            <a:endParaRPr/>
          </a:p>
          <a:p>
            <a:pPr indent="-298450" lvl="0" marL="457200" rtl="0" algn="l">
              <a:lnSpc>
                <a:spcPct val="115000"/>
              </a:lnSpc>
              <a:spcBef>
                <a:spcPts val="0"/>
              </a:spcBef>
              <a:spcAft>
                <a:spcPts val="0"/>
              </a:spcAft>
              <a:buSzPts val="1100"/>
              <a:buChar char="●"/>
            </a:pPr>
            <a:r>
              <a:rPr lang="en-US"/>
              <a:t>Model fit improves by 4.3 percentage points in R².</a:t>
            </a:r>
            <a:endParaRPr/>
          </a:p>
          <a:p>
            <a:pPr indent="0" lvl="0" marL="0" rtl="0" algn="l">
              <a:lnSpc>
                <a:spcPct val="115000"/>
              </a:lnSpc>
              <a:spcBef>
                <a:spcPts val="1200"/>
              </a:spcBef>
              <a:spcAft>
                <a:spcPts val="0"/>
              </a:spcAft>
              <a:buNone/>
            </a:pPr>
            <a:r>
              <a:rPr lang="en-US"/>
              <a:t>Interpretation</a:t>
            </a:r>
            <a:endParaRPr/>
          </a:p>
          <a:p>
            <a:pPr indent="0" lvl="0" marL="0" rtl="0" algn="l">
              <a:lnSpc>
                <a:spcPct val="115000"/>
              </a:lnSpc>
              <a:spcBef>
                <a:spcPts val="1200"/>
              </a:spcBef>
              <a:spcAft>
                <a:spcPts val="1200"/>
              </a:spcAft>
              <a:buNone/>
            </a:pPr>
            <a:r>
              <a:rPr lang="en-US"/>
              <a:t>Traffic proximity accounts statistically for part of the demographic association, but the association remains positive after adjustment.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hb7794d77adfa7f5_0_6"/>
          <p:cNvSpPr txBox="1"/>
          <p:nvPr>
            <p:ph type="title"/>
          </p:nvPr>
        </p:nvSpPr>
        <p:spPr>
          <a:xfrm>
            <a:off x="457200" y="228600"/>
            <a:ext cx="8229600" cy="6858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en-US"/>
              <a:t>Impact of Traffic Proximity on the Demographic Association </a:t>
            </a:r>
            <a:endParaRPr/>
          </a:p>
        </p:txBody>
      </p:sp>
      <p:sp>
        <p:nvSpPr>
          <p:cNvPr id="208" name="Google Shape;208;hb7794d77adfa7f5_0_6"/>
          <p:cNvSpPr txBox="1"/>
          <p:nvPr/>
        </p:nvSpPr>
        <p:spPr>
          <a:xfrm>
            <a:off x="562250" y="1409075"/>
            <a:ext cx="6608100" cy="2040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a:t>Key Findings</a:t>
            </a:r>
            <a:endParaRPr/>
          </a:p>
          <a:p>
            <a:pPr indent="-298450" lvl="0" marL="457200" rtl="0" algn="l">
              <a:lnSpc>
                <a:spcPct val="115000"/>
              </a:lnSpc>
              <a:spcBef>
                <a:spcPts val="1200"/>
              </a:spcBef>
              <a:spcAft>
                <a:spcPts val="0"/>
              </a:spcAft>
              <a:buSzPts val="1100"/>
              <a:buChar char="●"/>
            </a:pPr>
            <a:r>
              <a:rPr lang="en-US"/>
              <a:t>Without traffic: +2.79% diesel PM per 10-percentage-point increase in residents of color.</a:t>
            </a:r>
            <a:endParaRPr/>
          </a:p>
          <a:p>
            <a:pPr indent="-298450" lvl="0" marL="457200" rtl="0" algn="l">
              <a:lnSpc>
                <a:spcPct val="115000"/>
              </a:lnSpc>
              <a:spcBef>
                <a:spcPts val="0"/>
              </a:spcBef>
              <a:spcAft>
                <a:spcPts val="0"/>
              </a:spcAft>
              <a:buSzPts val="1100"/>
              <a:buChar char="●"/>
            </a:pPr>
            <a:r>
              <a:rPr lang="en-US"/>
              <a:t>With traffic: +1.56% per 10-percentage-point increase.</a:t>
            </a:r>
            <a:endParaRPr/>
          </a:p>
          <a:p>
            <a:pPr indent="-298450" lvl="0" marL="457200" rtl="0" algn="l">
              <a:lnSpc>
                <a:spcPct val="115000"/>
              </a:lnSpc>
              <a:spcBef>
                <a:spcPts val="0"/>
              </a:spcBef>
              <a:spcAft>
                <a:spcPts val="0"/>
              </a:spcAft>
              <a:buSzPts val="1100"/>
              <a:buChar char="●"/>
            </a:pPr>
            <a:r>
              <a:rPr lang="en-US"/>
              <a:t>The demographic coefficient decreases by 43.5%.</a:t>
            </a:r>
            <a:endParaRPr/>
          </a:p>
          <a:p>
            <a:pPr indent="-298450" lvl="0" marL="457200" rtl="0" algn="l">
              <a:lnSpc>
                <a:spcPct val="115000"/>
              </a:lnSpc>
              <a:spcBef>
                <a:spcPts val="0"/>
              </a:spcBef>
              <a:spcAft>
                <a:spcPts val="0"/>
              </a:spcAft>
              <a:buSzPts val="1100"/>
              <a:buChar char="●"/>
            </a:pPr>
            <a:r>
              <a:rPr lang="en-US"/>
              <a:t>Model R² improves from 0.642 to 0.685.</a:t>
            </a:r>
            <a:endParaRPr/>
          </a:p>
          <a:p>
            <a:pPr indent="-298450" lvl="0" marL="457200" rtl="0" algn="l">
              <a:lnSpc>
                <a:spcPct val="115000"/>
              </a:lnSpc>
              <a:spcBef>
                <a:spcPts val="0"/>
              </a:spcBef>
              <a:spcAft>
                <a:spcPts val="0"/>
              </a:spcAft>
              <a:buSzPts val="1100"/>
              <a:buChar char="●"/>
            </a:pPr>
            <a:r>
              <a:rPr lang="en-US"/>
              <a:t>Adjusted traffic coefficient: β = 0.0543 (95% CI: 0.0533–0.0553).</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h35dd68f70b94a580_0_16"/>
          <p:cNvSpPr txBox="1"/>
          <p:nvPr>
            <p:ph type="title"/>
          </p:nvPr>
        </p:nvSpPr>
        <p:spPr>
          <a:xfrm>
            <a:off x="457200" y="228600"/>
            <a:ext cx="8229600" cy="6858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en-US"/>
              <a:t>Diesel PM Across Traffic-Proximity Deciles </a:t>
            </a:r>
            <a:endParaRPr/>
          </a:p>
        </p:txBody>
      </p:sp>
      <p:sp>
        <p:nvSpPr>
          <p:cNvPr id="215" name="Google Shape;215;h35dd68f70b94a580_0_16"/>
          <p:cNvSpPr txBox="1"/>
          <p:nvPr/>
        </p:nvSpPr>
        <p:spPr>
          <a:xfrm>
            <a:off x="4796425" y="914400"/>
            <a:ext cx="3890400" cy="402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1100"/>
              <a:t>Key Findings</a:t>
            </a:r>
            <a:endParaRPr sz="1100"/>
          </a:p>
          <a:p>
            <a:pPr indent="-298450" lvl="0" marL="457200" rtl="0" algn="l">
              <a:lnSpc>
                <a:spcPct val="115000"/>
              </a:lnSpc>
              <a:spcBef>
                <a:spcPts val="1200"/>
              </a:spcBef>
              <a:spcAft>
                <a:spcPts val="0"/>
              </a:spcAft>
              <a:buSzPts val="1100"/>
              <a:buChar char="●"/>
            </a:pPr>
            <a:r>
              <a:rPr lang="en-US" sz="1100"/>
              <a:t>Census tracts were divided into ten approximately equal-sized groups based on traffic proximity.</a:t>
            </a:r>
            <a:endParaRPr sz="1100"/>
          </a:p>
          <a:p>
            <a:pPr indent="-298450" lvl="0" marL="457200" rtl="0" algn="l">
              <a:lnSpc>
                <a:spcPct val="115000"/>
              </a:lnSpc>
              <a:spcBef>
                <a:spcPts val="0"/>
              </a:spcBef>
              <a:spcAft>
                <a:spcPts val="0"/>
              </a:spcAft>
              <a:buSzPts val="1100"/>
              <a:buChar char="●"/>
            </a:pPr>
            <a:r>
              <a:rPr lang="en-US" sz="1100"/>
              <a:t>Mean diesel PM increases consistently across the deciles.</a:t>
            </a:r>
            <a:endParaRPr sz="1100"/>
          </a:p>
          <a:p>
            <a:pPr indent="-298450" lvl="0" marL="457200" rtl="0" algn="l">
              <a:lnSpc>
                <a:spcPct val="115000"/>
              </a:lnSpc>
              <a:spcBef>
                <a:spcPts val="0"/>
              </a:spcBef>
              <a:spcAft>
                <a:spcPts val="0"/>
              </a:spcAft>
              <a:buSzPts val="1100"/>
              <a:buChar char="●"/>
            </a:pPr>
            <a:r>
              <a:rPr lang="en-US" sz="1100"/>
              <a:t>Lowest traffic decile: 0.0529 µg/m³</a:t>
            </a:r>
            <a:endParaRPr sz="1100"/>
          </a:p>
          <a:p>
            <a:pPr indent="-298450" lvl="0" marL="457200" rtl="0" algn="l">
              <a:lnSpc>
                <a:spcPct val="115000"/>
              </a:lnSpc>
              <a:spcBef>
                <a:spcPts val="0"/>
              </a:spcBef>
              <a:spcAft>
                <a:spcPts val="0"/>
              </a:spcAft>
              <a:buSzPts val="1100"/>
              <a:buChar char="●"/>
            </a:pPr>
            <a:r>
              <a:rPr lang="en-US" sz="1100"/>
              <a:t>Highest traffic decile: 0.4273 µg/m³</a:t>
            </a:r>
            <a:endParaRPr sz="1100"/>
          </a:p>
          <a:p>
            <a:pPr indent="0" lvl="0" marL="0" rtl="0" algn="l">
              <a:lnSpc>
                <a:spcPct val="115000"/>
              </a:lnSpc>
              <a:spcBef>
                <a:spcPts val="2400"/>
              </a:spcBef>
              <a:spcAft>
                <a:spcPts val="0"/>
              </a:spcAft>
              <a:buNone/>
            </a:pPr>
            <a:r>
              <a:rPr b="1" lang="en-US" sz="2300">
                <a:solidFill>
                  <a:schemeClr val="accent1"/>
                </a:solidFill>
              </a:rPr>
              <a:t>8.1×</a:t>
            </a:r>
            <a:endParaRPr b="1" sz="2300">
              <a:solidFill>
                <a:schemeClr val="accent1"/>
              </a:solidFill>
            </a:endParaRPr>
          </a:p>
          <a:p>
            <a:pPr indent="0" lvl="0" marL="0" rtl="0" algn="l">
              <a:lnSpc>
                <a:spcPct val="115000"/>
              </a:lnSpc>
              <a:spcBef>
                <a:spcPts val="1200"/>
              </a:spcBef>
              <a:spcAft>
                <a:spcPts val="0"/>
              </a:spcAft>
              <a:buNone/>
            </a:pPr>
            <a:r>
              <a:rPr lang="en-US" sz="1100"/>
              <a:t>Higher mean diesel PM in the highest traffic decile compared with the lowest.</a:t>
            </a:r>
            <a:endParaRPr sz="1100"/>
          </a:p>
          <a:p>
            <a:pPr indent="0" lvl="0" marL="0" rtl="0" algn="l">
              <a:lnSpc>
                <a:spcPct val="115000"/>
              </a:lnSpc>
              <a:spcBef>
                <a:spcPts val="1200"/>
              </a:spcBef>
              <a:spcAft>
                <a:spcPts val="0"/>
              </a:spcAft>
              <a:buNone/>
            </a:pPr>
            <a:r>
              <a:rPr lang="en-US" sz="1100"/>
              <a:t>Interpretation</a:t>
            </a:r>
            <a:endParaRPr sz="1100"/>
          </a:p>
          <a:p>
            <a:pPr indent="0" lvl="0" marL="0" rtl="0" algn="l">
              <a:lnSpc>
                <a:spcPct val="115000"/>
              </a:lnSpc>
              <a:spcBef>
                <a:spcPts val="1200"/>
              </a:spcBef>
              <a:spcAft>
                <a:spcPts val="1200"/>
              </a:spcAft>
              <a:buNone/>
            </a:pPr>
            <a:r>
              <a:rPr lang="en-US" sz="1100"/>
              <a:t>The decile analysis supports the regression results, showing higher average diesel PM in areas with greater traffic proximity. These are unadjusted comparisons.</a:t>
            </a:r>
            <a:endParaRPr sz="1100"/>
          </a:p>
        </p:txBody>
      </p:sp>
      <p:pic>
        <p:nvPicPr>
          <p:cNvPr id="216" name="Google Shape;216;h35dd68f70b94a580_0_16"/>
          <p:cNvPicPr preferRelativeResize="0"/>
          <p:nvPr/>
        </p:nvPicPr>
        <p:blipFill>
          <a:blip r:embed="rId3">
            <a:alphaModFix/>
          </a:blip>
          <a:stretch>
            <a:fillRect/>
          </a:stretch>
        </p:blipFill>
        <p:spPr>
          <a:xfrm>
            <a:off x="152400" y="1066800"/>
            <a:ext cx="4491628" cy="36324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h35dd68f70b94a580_0_26"/>
          <p:cNvSpPr txBox="1"/>
          <p:nvPr>
            <p:ph type="title"/>
          </p:nvPr>
        </p:nvSpPr>
        <p:spPr>
          <a:xfrm>
            <a:off x="457200" y="228600"/>
            <a:ext cx="8229600" cy="6858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en-US"/>
              <a:t>Key Findings and Limitations </a:t>
            </a:r>
            <a:endParaRPr/>
          </a:p>
        </p:txBody>
      </p:sp>
      <p:sp>
        <p:nvSpPr>
          <p:cNvPr id="223" name="Google Shape;223;h35dd68f70b94a580_0_26"/>
          <p:cNvSpPr txBox="1"/>
          <p:nvPr/>
        </p:nvSpPr>
        <p:spPr>
          <a:xfrm>
            <a:off x="166575" y="914400"/>
            <a:ext cx="2734800" cy="1109700"/>
          </a:xfrm>
          <a:prstGeom prst="rect">
            <a:avLst/>
          </a:prstGeom>
          <a:solidFill>
            <a:schemeClr val="lt2"/>
          </a:solid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300">
                <a:solidFill>
                  <a:schemeClr val="accent1"/>
                </a:solidFill>
              </a:rPr>
              <a:t>39.2%</a:t>
            </a:r>
            <a:endParaRPr b="1" sz="2300">
              <a:solidFill>
                <a:schemeClr val="accent1"/>
              </a:solidFill>
            </a:endParaRPr>
          </a:p>
          <a:p>
            <a:pPr indent="0" lvl="0" marL="0" rtl="0" algn="l">
              <a:lnSpc>
                <a:spcPct val="115000"/>
              </a:lnSpc>
              <a:spcBef>
                <a:spcPts val="1200"/>
              </a:spcBef>
              <a:spcAft>
                <a:spcPts val="1200"/>
              </a:spcAft>
              <a:buNone/>
            </a:pPr>
            <a:r>
              <a:rPr lang="en-US" sz="1100"/>
              <a:t>Variation in diesel PM explained by traffic alone</a:t>
            </a:r>
            <a:endParaRPr sz="1100"/>
          </a:p>
        </p:txBody>
      </p:sp>
      <p:sp>
        <p:nvSpPr>
          <p:cNvPr id="224" name="Google Shape;224;h35dd68f70b94a580_0_26"/>
          <p:cNvSpPr txBox="1"/>
          <p:nvPr/>
        </p:nvSpPr>
        <p:spPr>
          <a:xfrm>
            <a:off x="3072000" y="914400"/>
            <a:ext cx="2734800" cy="1109700"/>
          </a:xfrm>
          <a:prstGeom prst="rect">
            <a:avLst/>
          </a:prstGeom>
          <a:solidFill>
            <a:schemeClr val="lt2"/>
          </a:solid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300">
                <a:solidFill>
                  <a:schemeClr val="accent1"/>
                </a:solidFill>
              </a:rPr>
              <a:t>44%</a:t>
            </a:r>
            <a:endParaRPr b="1" sz="2300">
              <a:solidFill>
                <a:schemeClr val="accent1"/>
              </a:solidFill>
            </a:endParaRPr>
          </a:p>
          <a:p>
            <a:pPr indent="0" lvl="0" marL="0" rtl="0" algn="l">
              <a:lnSpc>
                <a:spcPct val="115000"/>
              </a:lnSpc>
              <a:spcBef>
                <a:spcPts val="1200"/>
              </a:spcBef>
              <a:spcAft>
                <a:spcPts val="1200"/>
              </a:spcAft>
              <a:buNone/>
            </a:pPr>
            <a:r>
              <a:rPr lang="en-US" sz="1100"/>
              <a:t>Decrease in demographic coefficient after adding traffic</a:t>
            </a:r>
            <a:endParaRPr sz="1100"/>
          </a:p>
        </p:txBody>
      </p:sp>
      <p:sp>
        <p:nvSpPr>
          <p:cNvPr id="225" name="Google Shape;225;h35dd68f70b94a580_0_26"/>
          <p:cNvSpPr txBox="1"/>
          <p:nvPr/>
        </p:nvSpPr>
        <p:spPr>
          <a:xfrm>
            <a:off x="6144000" y="914400"/>
            <a:ext cx="2734800" cy="1109700"/>
          </a:xfrm>
          <a:prstGeom prst="rect">
            <a:avLst/>
          </a:prstGeom>
          <a:solidFill>
            <a:schemeClr val="lt2"/>
          </a:solid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300">
                <a:solidFill>
                  <a:schemeClr val="accent1"/>
                </a:solidFill>
              </a:rPr>
              <a:t>8.1×</a:t>
            </a:r>
            <a:endParaRPr b="1" sz="2300">
              <a:solidFill>
                <a:schemeClr val="accent1"/>
              </a:solidFill>
            </a:endParaRPr>
          </a:p>
          <a:p>
            <a:pPr indent="0" lvl="0" marL="0" rtl="0" algn="l">
              <a:lnSpc>
                <a:spcPct val="115000"/>
              </a:lnSpc>
              <a:spcBef>
                <a:spcPts val="1200"/>
              </a:spcBef>
              <a:spcAft>
                <a:spcPts val="1200"/>
              </a:spcAft>
              <a:buNone/>
            </a:pPr>
            <a:r>
              <a:rPr lang="en-US" sz="1100"/>
              <a:t>Highest versus lowest traffic-decile mean diesel PM</a:t>
            </a:r>
            <a:endParaRPr sz="1100"/>
          </a:p>
        </p:txBody>
      </p:sp>
      <p:sp>
        <p:nvSpPr>
          <p:cNvPr id="226" name="Google Shape;226;h35dd68f70b94a580_0_26"/>
          <p:cNvSpPr txBox="1"/>
          <p:nvPr/>
        </p:nvSpPr>
        <p:spPr>
          <a:xfrm>
            <a:off x="0" y="2273975"/>
            <a:ext cx="8878800" cy="324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a:t>Key Findings</a:t>
            </a:r>
            <a:endParaRPr/>
          </a:p>
          <a:p>
            <a:pPr indent="-298450" lvl="0" marL="457200" rtl="0" algn="l">
              <a:lnSpc>
                <a:spcPct val="115000"/>
              </a:lnSpc>
              <a:spcBef>
                <a:spcPts val="1200"/>
              </a:spcBef>
              <a:spcAft>
                <a:spcPts val="0"/>
              </a:spcAft>
              <a:buSzPts val="1100"/>
              <a:buChar char="●"/>
            </a:pPr>
            <a:r>
              <a:rPr lang="en-US"/>
              <a:t>Traffic proximity explains 39.2% of the variation in diesel PM.</a:t>
            </a:r>
            <a:endParaRPr/>
          </a:p>
          <a:p>
            <a:pPr indent="-298450" lvl="0" marL="457200" rtl="0" algn="l">
              <a:lnSpc>
                <a:spcPct val="115000"/>
              </a:lnSpc>
              <a:spcBef>
                <a:spcPts val="0"/>
              </a:spcBef>
              <a:spcAft>
                <a:spcPts val="0"/>
              </a:spcAft>
              <a:buSzPts val="1100"/>
              <a:buChar char="●"/>
            </a:pPr>
            <a:r>
              <a:rPr lang="en-US"/>
              <a:t>Adding traffic reduces the demographic coefficient by 44%.</a:t>
            </a:r>
            <a:endParaRPr/>
          </a:p>
          <a:p>
            <a:pPr indent="-298450" lvl="0" marL="457200" rtl="0" algn="l">
              <a:lnSpc>
                <a:spcPct val="115000"/>
              </a:lnSpc>
              <a:spcBef>
                <a:spcPts val="0"/>
              </a:spcBef>
              <a:spcAft>
                <a:spcPts val="0"/>
              </a:spcAft>
              <a:buSzPts val="1100"/>
              <a:buChar char="●"/>
            </a:pPr>
            <a:r>
              <a:rPr lang="en-US"/>
              <a:t>The highest traffic decile has 8.1× higher mean diesel PM than the lowest.</a:t>
            </a:r>
            <a:endParaRPr/>
          </a:p>
          <a:p>
            <a:pPr indent="0" lvl="0" marL="0" rtl="0" algn="l">
              <a:lnSpc>
                <a:spcPct val="115000"/>
              </a:lnSpc>
              <a:spcBef>
                <a:spcPts val="1200"/>
              </a:spcBef>
              <a:spcAft>
                <a:spcPts val="0"/>
              </a:spcAft>
              <a:buNone/>
            </a:pPr>
            <a:r>
              <a:rPr lang="en-US"/>
              <a:t>Limitations</a:t>
            </a:r>
            <a:endParaRPr/>
          </a:p>
          <a:p>
            <a:pPr indent="-298450" lvl="0" marL="457200" rtl="0" algn="l">
              <a:lnSpc>
                <a:spcPct val="115000"/>
              </a:lnSpc>
              <a:spcBef>
                <a:spcPts val="1200"/>
              </a:spcBef>
              <a:spcAft>
                <a:spcPts val="0"/>
              </a:spcAft>
              <a:buSzPts val="1100"/>
              <a:buChar char="●"/>
            </a:pPr>
            <a:r>
              <a:rPr lang="en-US"/>
              <a:t>Residual diagnostics suggest some curvature and unequal variance.</a:t>
            </a:r>
            <a:endParaRPr/>
          </a:p>
          <a:p>
            <a:pPr indent="-298450" lvl="0" marL="457200" rtl="0" algn="l">
              <a:lnSpc>
                <a:spcPct val="115000"/>
              </a:lnSpc>
              <a:spcBef>
                <a:spcPts val="0"/>
              </a:spcBef>
              <a:spcAft>
                <a:spcPts val="0"/>
              </a:spcAft>
              <a:buSzPts val="1100"/>
              <a:buChar char="●"/>
            </a:pPr>
            <a:r>
              <a:rPr lang="en-US"/>
              <a:t>Spatial correlation may affect the precision of confidence intervals.</a:t>
            </a:r>
            <a:endParaRPr/>
          </a:p>
          <a:p>
            <a:pPr indent="-298450" lvl="0" marL="457200" rtl="0" algn="l">
              <a:lnSpc>
                <a:spcPct val="115000"/>
              </a:lnSpc>
              <a:spcBef>
                <a:spcPts val="0"/>
              </a:spcBef>
              <a:spcAft>
                <a:spcPts val="0"/>
              </a:spcAft>
              <a:buSzPts val="1100"/>
              <a:buChar char="●"/>
            </a:pPr>
            <a:r>
              <a:rPr lang="en-US"/>
              <a:t>Diesel PM is modeled at the census-tract level, not measured as individual exposure.</a:t>
            </a:r>
            <a:endParaRPr/>
          </a:p>
          <a:p>
            <a:pPr indent="-298450" lvl="0" marL="457200" rtl="0" algn="l">
              <a:lnSpc>
                <a:spcPct val="115000"/>
              </a:lnSpc>
              <a:spcBef>
                <a:spcPts val="0"/>
              </a:spcBef>
              <a:spcAft>
                <a:spcPts val="0"/>
              </a:spcAft>
              <a:buSzPts val="1100"/>
              <a:buChar char="●"/>
            </a:pPr>
            <a:r>
              <a:rPr lang="en-US"/>
              <a:t>These associations do not establish causation.</a:t>
            </a:r>
            <a:endParaRPr/>
          </a:p>
          <a:p>
            <a:pPr indent="0" lvl="0" marL="0" rtl="0" algn="l">
              <a:lnSpc>
                <a:spcPct val="115000"/>
              </a:lnSpc>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9"/>
          <p:cNvSpPr txBox="1"/>
          <p:nvPr/>
        </p:nvSpPr>
        <p:spPr>
          <a:xfrm>
            <a:off x="548640" y="320040"/>
            <a:ext cx="80467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3000"/>
              <a:buFont typeface="Cambria"/>
              <a:buNone/>
            </a:pPr>
            <a:r>
              <a:rPr b="1" i="0" lang="en-US" sz="3000" u="none" cap="none" strike="noStrike">
                <a:solidFill>
                  <a:schemeClr val="lt1"/>
                </a:solidFill>
                <a:latin typeface="Cambria"/>
                <a:ea typeface="Cambria"/>
                <a:cs typeface="Cambria"/>
                <a:sym typeface="Cambria"/>
              </a:rPr>
              <a:t>Takeaways (for both region and traffic</a:t>
            </a:r>
            <a:r>
              <a:rPr b="1" lang="en-US" sz="3000">
                <a:solidFill>
                  <a:schemeClr val="lt1"/>
                </a:solidFill>
                <a:latin typeface="Cambria"/>
                <a:ea typeface="Cambria"/>
                <a:cs typeface="Cambria"/>
                <a:sym typeface="Cambria"/>
              </a:rPr>
              <a:t> proximity)</a:t>
            </a:r>
            <a:endParaRPr b="0" i="0" sz="3000" u="none" cap="none" strike="noStrike">
              <a:solidFill>
                <a:schemeClr val="dk1"/>
              </a:solidFill>
              <a:latin typeface="Calibri"/>
              <a:ea typeface="Calibri"/>
              <a:cs typeface="Calibri"/>
              <a:sym typeface="Calibri"/>
            </a:endParaRPr>
          </a:p>
        </p:txBody>
      </p:sp>
      <p:sp>
        <p:nvSpPr>
          <p:cNvPr id="233" name="Google Shape;233;p19"/>
          <p:cNvSpPr txBox="1"/>
          <p:nvPr/>
        </p:nvSpPr>
        <p:spPr>
          <a:xfrm>
            <a:off x="548700" y="1113025"/>
            <a:ext cx="8329200" cy="34920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lt1"/>
              </a:buClr>
              <a:buSzPts val="1800"/>
              <a:buFont typeface="Calibri"/>
              <a:buChar char="•"/>
            </a:pPr>
            <a:r>
              <a:rPr b="0" i="0" lang="en-US" sz="1800" u="none" cap="none" strike="noStrike">
                <a:solidFill>
                  <a:schemeClr val="lt1"/>
                </a:solidFill>
                <a:latin typeface="Calibri"/>
                <a:ea typeface="Calibri"/>
                <a:cs typeface="Calibri"/>
                <a:sym typeface="Calibri"/>
              </a:rPr>
              <a:t>Raw gap: 10.6% more diesel PM per +10 pts residents of color</a:t>
            </a:r>
            <a:endParaRPr b="0" i="0" sz="1800" u="none" cap="none" strike="noStrike">
              <a:solidFill>
                <a:schemeClr val="dk1"/>
              </a:solidFill>
              <a:latin typeface="Calibri"/>
              <a:ea typeface="Calibri"/>
              <a:cs typeface="Calibri"/>
              <a:sym typeface="Calibri"/>
            </a:endParaRPr>
          </a:p>
          <a:p>
            <a:pPr indent="-342900" lvl="0" marL="342900" marR="0" rtl="0" algn="l">
              <a:spcBef>
                <a:spcPts val="1200"/>
              </a:spcBef>
              <a:spcAft>
                <a:spcPts val="0"/>
              </a:spcAft>
              <a:buClr>
                <a:schemeClr val="lt1"/>
              </a:buClr>
              <a:buSzPts val="1800"/>
              <a:buFont typeface="Calibri"/>
              <a:buChar char="•"/>
            </a:pPr>
            <a:r>
              <a:rPr b="0" i="0" lang="en-US" sz="1800" u="none" cap="none" strike="noStrike">
                <a:solidFill>
                  <a:schemeClr val="lt1"/>
                </a:solidFill>
                <a:latin typeface="Calibri"/>
                <a:ea typeface="Calibri"/>
                <a:cs typeface="Calibri"/>
                <a:sym typeface="Calibri"/>
              </a:rPr>
              <a:t>Density explains most of it; 2.9% remains after density, income, and region (CI 1.9 to 3.8)</a:t>
            </a:r>
            <a:endParaRPr b="0" i="0" sz="1800" u="none" cap="none" strike="noStrike">
              <a:solidFill>
                <a:schemeClr val="dk1"/>
              </a:solidFill>
              <a:latin typeface="Calibri"/>
              <a:ea typeface="Calibri"/>
              <a:cs typeface="Calibri"/>
              <a:sym typeface="Calibri"/>
            </a:endParaRPr>
          </a:p>
          <a:p>
            <a:pPr indent="-342900" lvl="0" marL="342900" marR="0" rtl="0" algn="l">
              <a:spcBef>
                <a:spcPts val="1200"/>
              </a:spcBef>
              <a:spcAft>
                <a:spcPts val="0"/>
              </a:spcAft>
              <a:buClr>
                <a:schemeClr val="lt1"/>
              </a:buClr>
              <a:buSzPts val="1800"/>
              <a:buFont typeface="Calibri"/>
              <a:buChar char="•"/>
            </a:pPr>
            <a:r>
              <a:rPr b="0" i="0" lang="en-US" sz="1800" u="none" cap="none" strike="noStrike">
                <a:solidFill>
                  <a:schemeClr val="lt1"/>
                </a:solidFill>
                <a:latin typeface="Calibri"/>
                <a:ea typeface="Calibri"/>
                <a:cs typeface="Calibri"/>
                <a:sym typeface="Calibri"/>
              </a:rPr>
              <a:t>The gap varies by region: about 9% in Mountains &amp; Plains and the Pacific NW, about 0% in NY/NJ/PR and South Central</a:t>
            </a:r>
            <a:endParaRPr b="0" i="0" sz="1800" u="none" cap="none" strike="noStrike">
              <a:solidFill>
                <a:schemeClr val="dk1"/>
              </a:solidFill>
              <a:latin typeface="Calibri"/>
              <a:ea typeface="Calibri"/>
              <a:cs typeface="Calibri"/>
              <a:sym typeface="Calibri"/>
            </a:endParaRPr>
          </a:p>
          <a:p>
            <a:pPr indent="-342900" lvl="0" marL="342900" marR="0" rtl="0" algn="l">
              <a:spcBef>
                <a:spcPts val="1200"/>
              </a:spcBef>
              <a:spcAft>
                <a:spcPts val="0"/>
              </a:spcAft>
              <a:buClr>
                <a:schemeClr val="lt1"/>
              </a:buClr>
              <a:buSzPts val="1800"/>
              <a:buFont typeface="Calibri"/>
              <a:buChar char="•"/>
            </a:pPr>
            <a:r>
              <a:rPr b="0" i="0" lang="en-US" sz="1800" u="none" cap="none" strike="noStrike">
                <a:solidFill>
                  <a:schemeClr val="lt1"/>
                </a:solidFill>
                <a:latin typeface="Calibri"/>
                <a:ea typeface="Calibri"/>
                <a:cs typeface="Calibri"/>
                <a:sym typeface="Calibri"/>
              </a:rPr>
              <a:t>Region is the second-strongest predictor (f² = 0.046); one national number hides where disparities are steepest</a:t>
            </a:r>
            <a:endParaRPr b="0" i="0" sz="1800" u="none" cap="none" strike="noStrike">
              <a:solidFill>
                <a:schemeClr val="lt1"/>
              </a:solidFill>
              <a:latin typeface="Calibri"/>
              <a:ea typeface="Calibri"/>
              <a:cs typeface="Calibri"/>
              <a:sym typeface="Calibri"/>
            </a:endParaRPr>
          </a:p>
          <a:p>
            <a:pPr indent="-342900" lvl="0" marL="342900" marR="0" rtl="0" algn="l">
              <a:spcBef>
                <a:spcPts val="1200"/>
              </a:spcBef>
              <a:spcAft>
                <a:spcPts val="0"/>
              </a:spcAft>
              <a:buClr>
                <a:schemeClr val="lt1"/>
              </a:buClr>
              <a:buSzPts val="1800"/>
              <a:buFont typeface="Calibri"/>
              <a:buChar char="•"/>
            </a:pPr>
            <a:r>
              <a:rPr lang="en-US" sz="1800">
                <a:solidFill>
                  <a:schemeClr val="lt1"/>
                </a:solidFill>
                <a:latin typeface="Calibri"/>
                <a:ea typeface="Calibri"/>
                <a:cs typeface="Calibri"/>
                <a:sym typeface="Calibri"/>
              </a:rPr>
              <a:t>Traffic proximity captures an important environmental dimension that demographic and socioeconomic variables alone do not fully represent. </a:t>
            </a:r>
            <a:endParaRPr sz="1800">
              <a:solidFill>
                <a:schemeClr val="lt1"/>
              </a:solidFill>
              <a:latin typeface="Calibri"/>
              <a:ea typeface="Calibri"/>
              <a:cs typeface="Calibri"/>
              <a:sym typeface="Calibri"/>
            </a:endParaRPr>
          </a:p>
          <a:p>
            <a:pPr indent="-342900" lvl="0" marL="342900" marR="0" rtl="0" algn="l">
              <a:spcBef>
                <a:spcPts val="1200"/>
              </a:spcBef>
              <a:spcAft>
                <a:spcPts val="0"/>
              </a:spcAft>
              <a:buClr>
                <a:schemeClr val="lt1"/>
              </a:buClr>
              <a:buSzPts val="1800"/>
              <a:buFont typeface="Calibri"/>
              <a:buChar char="•"/>
            </a:pPr>
            <a:r>
              <a:rPr lang="en-US" sz="1800">
                <a:solidFill>
                  <a:schemeClr val="lt1"/>
                </a:solidFill>
                <a:latin typeface="Calibri"/>
                <a:ea typeface="Calibri"/>
                <a:cs typeface="Calibri"/>
                <a:sym typeface="Calibri"/>
              </a:rPr>
              <a:t>The remaining demographic association suggests that other environmental and neighborhood characteristics may also contribute to differences in diesel PM. </a:t>
            </a: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Diesel Charcoal">
  <a:themeElements>
    <a:clrScheme name="Diesel Charcoal">
      <a:dk1>
        <a:srgbClr val="23282D"/>
      </a:dk1>
      <a:lt1>
        <a:srgbClr val="FFFFFF"/>
      </a:lt1>
      <a:dk2>
        <a:srgbClr val="4A535B"/>
      </a:dk2>
      <a:lt2>
        <a:srgbClr val="EEF0F1"/>
      </a:lt2>
      <a:accent1>
        <a:srgbClr val="B5442C"/>
      </a:accent1>
      <a:accent2>
        <a:srgbClr val="5B6770"/>
      </a:accent2>
      <a:accent3>
        <a:srgbClr val="D9A441"/>
      </a:accent3>
      <a:accent4>
        <a:srgbClr val="8C9AA5"/>
      </a:accent4>
      <a:accent5>
        <a:srgbClr val="2F5D62"/>
      </a:accent5>
      <a:accent6>
        <a:srgbClr val="C9CED2"/>
      </a:accent6>
      <a:hlink>
        <a:srgbClr val="2F5D62"/>
      </a:hlink>
      <a:folHlink>
        <a:srgbClr val="5B677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iesel Charcoal">
  <a:themeElements>
    <a:clrScheme name="Diesel Charcoal">
      <a:dk1>
        <a:srgbClr val="23282D"/>
      </a:dk1>
      <a:lt1>
        <a:srgbClr val="FFFFFF"/>
      </a:lt1>
      <a:dk2>
        <a:srgbClr val="4A535B"/>
      </a:dk2>
      <a:lt2>
        <a:srgbClr val="EEF0F1"/>
      </a:lt2>
      <a:accent1>
        <a:srgbClr val="B5442C"/>
      </a:accent1>
      <a:accent2>
        <a:srgbClr val="5B6770"/>
      </a:accent2>
      <a:accent3>
        <a:srgbClr val="D9A441"/>
      </a:accent3>
      <a:accent4>
        <a:srgbClr val="8C9AA5"/>
      </a:accent4>
      <a:accent5>
        <a:srgbClr val="2F5D62"/>
      </a:accent5>
      <a:accent6>
        <a:srgbClr val="C9CED2"/>
      </a:accent6>
      <a:hlink>
        <a:srgbClr val="2F5D62"/>
      </a:hlink>
      <a:folHlink>
        <a:srgbClr val="5B677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2026-10-17T19:01:34Z</dcterms:created>
  <dc:creator>Kayla</dc:creator>
</cp:coreProperties>
</file>